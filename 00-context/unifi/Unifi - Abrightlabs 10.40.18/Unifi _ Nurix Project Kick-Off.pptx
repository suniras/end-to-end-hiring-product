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  <p:sldMasterId id="2147483690" r:id="rId7"/>
    <p:sldMasterId id="214748369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Manrope SemiBold"/>
      <p:regular r:id="rId37"/>
      <p:bold r:id="rId38"/>
    </p:embeddedFont>
    <p:embeddedFont>
      <p:font typeface="Manrope"/>
      <p:regular r:id="rId39"/>
      <p:bold r:id="rId40"/>
    </p:embeddedFont>
    <p:embeddedFont>
      <p:font typeface="Manrope ExtraBold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876C4F-11DA-4D1F-936A-5AADDE0883E5}">
  <a:tblStyle styleId="{64876C4F-11DA-4D1F-936A-5AADDE0883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2C7E273-2A0B-44F7-8CC1-4FDAA0629F3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rope-bold.fntdata"/><Relationship Id="rId20" Type="http://schemas.openxmlformats.org/officeDocument/2006/relationships/slide" Target="slides/slide11.xml"/><Relationship Id="rId41" Type="http://schemas.openxmlformats.org/officeDocument/2006/relationships/font" Target="fonts/ManropeExtraBold-bold.fntdata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-regular.fntdata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2.xml"/><Relationship Id="rId33" Type="http://schemas.openxmlformats.org/officeDocument/2006/relationships/font" Target="fonts/Lato-regular.fntdata"/><Relationship Id="rId10" Type="http://schemas.openxmlformats.org/officeDocument/2006/relationships/slide" Target="slides/slide1.xml"/><Relationship Id="rId32" Type="http://schemas.openxmlformats.org/officeDocument/2006/relationships/font" Target="fonts/Inter-boldItalic.fntdata"/><Relationship Id="rId13" Type="http://schemas.openxmlformats.org/officeDocument/2006/relationships/slide" Target="slides/slide4.xml"/><Relationship Id="rId35" Type="http://schemas.openxmlformats.org/officeDocument/2006/relationships/font" Target="fonts/Lato-italic.fntdata"/><Relationship Id="rId12" Type="http://schemas.openxmlformats.org/officeDocument/2006/relationships/slide" Target="slides/slide3.xml"/><Relationship Id="rId34" Type="http://schemas.openxmlformats.org/officeDocument/2006/relationships/font" Target="fonts/Lato-bold.fntdata"/><Relationship Id="rId15" Type="http://schemas.openxmlformats.org/officeDocument/2006/relationships/slide" Target="slides/slide6.xml"/><Relationship Id="rId37" Type="http://schemas.openxmlformats.org/officeDocument/2006/relationships/font" Target="fonts/ManropeSemiBold-regular.fntdata"/><Relationship Id="rId14" Type="http://schemas.openxmlformats.org/officeDocument/2006/relationships/slide" Target="slides/slide5.xml"/><Relationship Id="rId36" Type="http://schemas.openxmlformats.org/officeDocument/2006/relationships/font" Target="fonts/Lato-boldItalic.fntdata"/><Relationship Id="rId17" Type="http://schemas.openxmlformats.org/officeDocument/2006/relationships/slide" Target="slides/slide8.xml"/><Relationship Id="rId39" Type="http://schemas.openxmlformats.org/officeDocument/2006/relationships/font" Target="fonts/Manrope-regular.fntdata"/><Relationship Id="rId16" Type="http://schemas.openxmlformats.org/officeDocument/2006/relationships/slide" Target="slides/slide7.xml"/><Relationship Id="rId38" Type="http://schemas.openxmlformats.org/officeDocument/2006/relationships/font" Target="fonts/ManropeSemiBold-bold.fnt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0d4cabd8e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70d4cabd8e_0_2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6f67fc28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6f67fc28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f67fc283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6f67fc283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f67fc283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6f67fc283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0d4cabd8e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70d4cabd8e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f67fc283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6f67fc283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6f67fc283e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6f67fc283e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f67fc283e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6f67fc283e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25aef8ce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725aef8c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f67fc283e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f67fc283e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f67fc283e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6f67fc283e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nrope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tistic blurry colorful wallpaper background"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15761"/>
          <a:stretch/>
        </p:blipFill>
        <p:spPr>
          <a:xfrm rot="10800000">
            <a:off x="1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/>
          <p:nvPr/>
        </p:nvSpPr>
        <p:spPr>
          <a:xfrm>
            <a:off x="-41221" y="-1"/>
            <a:ext cx="91440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">
                <a:srgbClr val="FFFFFF">
                  <a:alpha val="0"/>
                </a:srgbClr>
              </a:gs>
              <a:gs pos="38000">
                <a:schemeClr val="lt1"/>
              </a:gs>
              <a:gs pos="67000">
                <a:srgbClr val="FFFFFF"/>
              </a:gs>
              <a:gs pos="8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6"/>
          <p:cNvSpPr/>
          <p:nvPr/>
        </p:nvSpPr>
        <p:spPr>
          <a:xfrm flipH="1">
            <a:off x="121277" y="773573"/>
            <a:ext cx="350100" cy="350100"/>
          </a:xfrm>
          <a:prstGeom prst="pie">
            <a:avLst>
              <a:gd fmla="val 5403018" name="adj1"/>
              <a:gd fmla="val 1620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7380" y="208859"/>
            <a:ext cx="150875" cy="8915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21574" y="433871"/>
            <a:ext cx="39300" cy="39300"/>
          </a:xfrm>
          <a:prstGeom prst="ellipse">
            <a:avLst/>
          </a:prstGeom>
          <a:solidFill>
            <a:srgbClr val="0119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296355" y="328874"/>
            <a:ext cx="7543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Manrope"/>
              <a:buNone/>
              <a:defRPr b="1" sz="21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/>
          <p:nvPr/>
        </p:nvSpPr>
        <p:spPr>
          <a:xfrm>
            <a:off x="8832006" y="4836462"/>
            <a:ext cx="177000" cy="1770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8816332" y="4873029"/>
            <a:ext cx="20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3875" y="372357"/>
            <a:ext cx="776872" cy="163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tistic blurry colorful wallpaper background" id="77" name="Google Shape;77;p17"/>
          <p:cNvPicPr preferRelativeResize="0"/>
          <p:nvPr/>
        </p:nvPicPr>
        <p:blipFill rotWithShape="1">
          <a:blip r:embed="rId2">
            <a:alphaModFix/>
          </a:blip>
          <a:srcRect b="0" l="0" r="0" t="15761"/>
          <a:stretch/>
        </p:blipFill>
        <p:spPr>
          <a:xfrm rot="10800000">
            <a:off x="13765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>
            <a:off x="60864" y="1719617"/>
            <a:ext cx="91440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">
                <a:srgbClr val="FFFFFF">
                  <a:alpha val="0"/>
                </a:srgbClr>
              </a:gs>
              <a:gs pos="38000">
                <a:schemeClr val="lt1"/>
              </a:gs>
              <a:gs pos="67000">
                <a:srgbClr val="FFFFFF"/>
              </a:gs>
              <a:gs pos="8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21574" y="433871"/>
            <a:ext cx="39300" cy="39300"/>
          </a:xfrm>
          <a:prstGeom prst="ellipse">
            <a:avLst/>
          </a:prstGeom>
          <a:solidFill>
            <a:srgbClr val="0119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296355" y="328874"/>
            <a:ext cx="7543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Manrope"/>
              <a:buNone/>
              <a:defRPr b="1" sz="21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/>
          <p:nvPr/>
        </p:nvSpPr>
        <p:spPr>
          <a:xfrm>
            <a:off x="8832006" y="4836462"/>
            <a:ext cx="177000" cy="1770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8816332" y="4873029"/>
            <a:ext cx="20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3" name="Google Shape;83;p17"/>
          <p:cNvGrpSpPr/>
          <p:nvPr/>
        </p:nvGrpSpPr>
        <p:grpSpPr>
          <a:xfrm>
            <a:off x="1" y="1"/>
            <a:ext cx="9143999" cy="5143499"/>
            <a:chOff x="1" y="1"/>
            <a:chExt cx="12191999" cy="6857999"/>
          </a:xfrm>
        </p:grpSpPr>
        <p:grpSp>
          <p:nvGrpSpPr>
            <p:cNvPr id="84" name="Google Shape;84;p17"/>
            <p:cNvGrpSpPr/>
            <p:nvPr/>
          </p:nvGrpSpPr>
          <p:grpSpPr>
            <a:xfrm>
              <a:off x="1" y="1"/>
              <a:ext cx="12191999" cy="285749"/>
              <a:chOff x="1" y="1"/>
              <a:chExt cx="12191999" cy="285749"/>
            </a:xfrm>
          </p:grpSpPr>
          <p:pic>
            <p:nvPicPr>
              <p:cNvPr id="85" name="Google Shape;85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" name="Google Shape;86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7" name="Google Shape;87;p17"/>
            <p:cNvGrpSpPr/>
            <p:nvPr/>
          </p:nvGrpSpPr>
          <p:grpSpPr>
            <a:xfrm flipH="1" rot="10800000">
              <a:off x="1" y="6572251"/>
              <a:ext cx="12191999" cy="285749"/>
              <a:chOff x="1" y="1"/>
              <a:chExt cx="12191999" cy="285749"/>
            </a:xfrm>
          </p:grpSpPr>
          <p:pic>
            <p:nvPicPr>
              <p:cNvPr id="88" name="Google Shape;88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" name="Google Shape;89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90" name="Google Shape;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3875" y="372357"/>
            <a:ext cx="776872" cy="163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8"/>
          <p:cNvCxnSpPr/>
          <p:nvPr/>
        </p:nvCxnSpPr>
        <p:spPr>
          <a:xfrm>
            <a:off x="296355" y="4918472"/>
            <a:ext cx="8339100" cy="0"/>
          </a:xfrm>
          <a:prstGeom prst="straightConnector1">
            <a:avLst/>
          </a:prstGeom>
          <a:noFill/>
          <a:ln cap="flat" cmpd="sng" w="9525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18"/>
          <p:cNvSpPr/>
          <p:nvPr/>
        </p:nvSpPr>
        <p:spPr>
          <a:xfrm>
            <a:off x="8635604" y="4810125"/>
            <a:ext cx="216600" cy="216600"/>
          </a:xfrm>
          <a:prstGeom prst="ellipse">
            <a:avLst/>
          </a:prstGeom>
          <a:noFill/>
          <a:ln cap="flat" cmpd="sng" w="9525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8639771" y="4860764"/>
            <a:ext cx="208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8"/>
          <p:cNvSpPr/>
          <p:nvPr/>
        </p:nvSpPr>
        <p:spPr>
          <a:xfrm flipH="1">
            <a:off x="-175078" y="278494"/>
            <a:ext cx="350100" cy="350100"/>
          </a:xfrm>
          <a:prstGeom prst="pie">
            <a:avLst>
              <a:gd fmla="val 5403018" name="adj1"/>
              <a:gd fmla="val 1620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10359" y="408939"/>
            <a:ext cx="150875" cy="8915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21574" y="433871"/>
            <a:ext cx="39300" cy="39300"/>
          </a:xfrm>
          <a:prstGeom prst="ellipse">
            <a:avLst/>
          </a:prstGeom>
          <a:solidFill>
            <a:srgbClr val="0119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296355" y="328874"/>
            <a:ext cx="7543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Manrope"/>
              <a:buNone/>
              <a:defRPr b="1" sz="21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3875" y="372357"/>
            <a:ext cx="776872" cy="1637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8"/>
          <p:cNvGrpSpPr/>
          <p:nvPr/>
        </p:nvGrpSpPr>
        <p:grpSpPr>
          <a:xfrm>
            <a:off x="1" y="1"/>
            <a:ext cx="9143999" cy="5143499"/>
            <a:chOff x="1" y="1"/>
            <a:chExt cx="12191999" cy="6857999"/>
          </a:xfrm>
        </p:grpSpPr>
        <p:grpSp>
          <p:nvGrpSpPr>
            <p:cNvPr id="101" name="Google Shape;101;p18"/>
            <p:cNvGrpSpPr/>
            <p:nvPr/>
          </p:nvGrpSpPr>
          <p:grpSpPr>
            <a:xfrm>
              <a:off x="1" y="1"/>
              <a:ext cx="12191999" cy="285749"/>
              <a:chOff x="1" y="1"/>
              <a:chExt cx="12191999" cy="285749"/>
            </a:xfrm>
          </p:grpSpPr>
          <p:pic>
            <p:nvPicPr>
              <p:cNvPr id="102" name="Google Shape;102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" name="Google Shape;103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4" name="Google Shape;104;p18"/>
            <p:cNvGrpSpPr/>
            <p:nvPr/>
          </p:nvGrpSpPr>
          <p:grpSpPr>
            <a:xfrm flipH="1" rot="10800000">
              <a:off x="1" y="6572251"/>
              <a:ext cx="12191999" cy="285749"/>
              <a:chOff x="1" y="1"/>
              <a:chExt cx="12191999" cy="285749"/>
            </a:xfrm>
          </p:grpSpPr>
          <p:pic>
            <p:nvPicPr>
              <p:cNvPr id="105" name="Google Shape;105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8832006" y="4836462"/>
            <a:ext cx="177000" cy="1770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8816332" y="4873029"/>
            <a:ext cx="20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>
            <a:off x="192277" y="238783"/>
            <a:ext cx="297600" cy="29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1" name="Google Shape;111;p19"/>
          <p:cNvGrpSpPr/>
          <p:nvPr/>
        </p:nvGrpSpPr>
        <p:grpSpPr>
          <a:xfrm>
            <a:off x="281960" y="305757"/>
            <a:ext cx="118084" cy="163749"/>
            <a:chOff x="28765" y="504105"/>
            <a:chExt cx="145066" cy="201166"/>
          </a:xfrm>
        </p:grpSpPr>
        <p:pic>
          <p:nvPicPr>
            <p:cNvPr id="112" name="Google Shape;11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13812" y="545252"/>
              <a:ext cx="201166" cy="1188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9"/>
            <p:cNvSpPr/>
            <p:nvPr/>
          </p:nvSpPr>
          <p:spPr>
            <a:xfrm>
              <a:off x="28765" y="578495"/>
              <a:ext cx="52500" cy="52500"/>
            </a:xfrm>
            <a:prstGeom prst="ellipse">
              <a:avLst/>
            </a:prstGeom>
            <a:solidFill>
              <a:srgbClr val="01194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4" name="Google Shape;114;p19"/>
          <p:cNvSpPr txBox="1"/>
          <p:nvPr>
            <p:ph type="title"/>
          </p:nvPr>
        </p:nvSpPr>
        <p:spPr>
          <a:xfrm>
            <a:off x="571500" y="238783"/>
            <a:ext cx="7125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Manrope"/>
              <a:buNone/>
              <a:defRPr b="1" sz="21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4356" y="238783"/>
            <a:ext cx="967511" cy="2038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9"/>
          <p:cNvGrpSpPr/>
          <p:nvPr/>
        </p:nvGrpSpPr>
        <p:grpSpPr>
          <a:xfrm>
            <a:off x="1" y="1"/>
            <a:ext cx="9143999" cy="5143499"/>
            <a:chOff x="1" y="1"/>
            <a:chExt cx="12191999" cy="6857999"/>
          </a:xfrm>
        </p:grpSpPr>
        <p:grpSp>
          <p:nvGrpSpPr>
            <p:cNvPr id="117" name="Google Shape;117;p19"/>
            <p:cNvGrpSpPr/>
            <p:nvPr/>
          </p:nvGrpSpPr>
          <p:grpSpPr>
            <a:xfrm>
              <a:off x="1" y="1"/>
              <a:ext cx="12191999" cy="285749"/>
              <a:chOff x="1" y="1"/>
              <a:chExt cx="12191999" cy="285749"/>
            </a:xfrm>
          </p:grpSpPr>
          <p:pic>
            <p:nvPicPr>
              <p:cNvPr id="118" name="Google Shape;118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9" name="Google Shape;119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0" name="Google Shape;120;p19"/>
            <p:cNvGrpSpPr/>
            <p:nvPr/>
          </p:nvGrpSpPr>
          <p:grpSpPr>
            <a:xfrm flipH="1" rot="10800000">
              <a:off x="1" y="6572251"/>
              <a:ext cx="12191999" cy="285749"/>
              <a:chOff x="1" y="1"/>
              <a:chExt cx="12191999" cy="285749"/>
            </a:xfrm>
          </p:grpSpPr>
          <p:pic>
            <p:nvPicPr>
              <p:cNvPr id="121" name="Google Shape;121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2" name="Google Shape;122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154650" y="186375"/>
            <a:ext cx="8834700" cy="4766100"/>
          </a:xfrm>
          <a:prstGeom prst="roundRect">
            <a:avLst>
              <a:gd fmla="val 3379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>
            <p:ph idx="2" type="pic"/>
          </p:nvPr>
        </p:nvSpPr>
        <p:spPr>
          <a:xfrm>
            <a:off x="4646964" y="587541"/>
            <a:ext cx="3968400" cy="3968400"/>
          </a:xfrm>
          <a:prstGeom prst="roundRect">
            <a:avLst>
              <a:gd fmla="val 8162" name="adj"/>
            </a:avLst>
          </a:prstGeom>
          <a:noFill/>
          <a:ln>
            <a:noFill/>
          </a:ln>
        </p:spPr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528625" y="587541"/>
            <a:ext cx="3712500" cy="93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528625" y="1885950"/>
            <a:ext cx="37125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A">
  <p:cSld name="CUSTOM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/>
          <p:nvPr>
            <p:ph idx="2" type="pic"/>
          </p:nvPr>
        </p:nvSpPr>
        <p:spPr>
          <a:xfrm>
            <a:off x="3035863" y="1446274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256075" y="228600"/>
            <a:ext cx="86319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/>
        </p:nvSpPr>
        <p:spPr>
          <a:xfrm>
            <a:off x="256087" y="118109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256087" y="328421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6382567" y="118037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1088191" y="1225969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3" type="body"/>
          </p:nvPr>
        </p:nvSpPr>
        <p:spPr>
          <a:xfrm>
            <a:off x="7223815" y="1225241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4" type="body"/>
          </p:nvPr>
        </p:nvSpPr>
        <p:spPr>
          <a:xfrm>
            <a:off x="7223815" y="3328361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cxnSp>
        <p:nvCxnSpPr>
          <p:cNvPr id="149" name="Google Shape;149;p23"/>
          <p:cNvCxnSpPr/>
          <p:nvPr/>
        </p:nvCxnSpPr>
        <p:spPr>
          <a:xfrm>
            <a:off x="628531" y="138220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>
            <a:off x="628531" y="3484632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>
            <a:off x="6760656" y="1381538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>
            <a:off x="6760656" y="348465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23"/>
          <p:cNvSpPr txBox="1"/>
          <p:nvPr/>
        </p:nvSpPr>
        <p:spPr>
          <a:xfrm>
            <a:off x="6382571" y="328348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4" name="Google Shape;154;p23"/>
          <p:cNvSpPr txBox="1"/>
          <p:nvPr>
            <p:ph idx="5" type="body"/>
          </p:nvPr>
        </p:nvSpPr>
        <p:spPr>
          <a:xfrm>
            <a:off x="1088191" y="3329089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5"/>
          <p:cNvCxnSpPr/>
          <p:nvPr/>
        </p:nvCxnSpPr>
        <p:spPr>
          <a:xfrm>
            <a:off x="296355" y="4918472"/>
            <a:ext cx="8339100" cy="0"/>
          </a:xfrm>
          <a:prstGeom prst="straightConnector1">
            <a:avLst/>
          </a:prstGeom>
          <a:noFill/>
          <a:ln cap="flat" cmpd="sng" w="9525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25"/>
          <p:cNvSpPr/>
          <p:nvPr/>
        </p:nvSpPr>
        <p:spPr>
          <a:xfrm>
            <a:off x="8635604" y="4810125"/>
            <a:ext cx="216600" cy="216600"/>
          </a:xfrm>
          <a:prstGeom prst="ellipse">
            <a:avLst/>
          </a:prstGeom>
          <a:noFill/>
          <a:ln cap="flat" cmpd="sng" w="9525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8639771" y="4860764"/>
            <a:ext cx="208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25"/>
          <p:cNvSpPr/>
          <p:nvPr/>
        </p:nvSpPr>
        <p:spPr>
          <a:xfrm flipH="1">
            <a:off x="-175078" y="278494"/>
            <a:ext cx="350100" cy="350100"/>
          </a:xfrm>
          <a:prstGeom prst="pie">
            <a:avLst>
              <a:gd fmla="val 5403018" name="adj1"/>
              <a:gd fmla="val 1620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10359" y="408939"/>
            <a:ext cx="150875" cy="8915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/>
          <p:nvPr/>
        </p:nvSpPr>
        <p:spPr>
          <a:xfrm>
            <a:off x="21574" y="433871"/>
            <a:ext cx="39300" cy="39300"/>
          </a:xfrm>
          <a:prstGeom prst="ellipse">
            <a:avLst/>
          </a:prstGeom>
          <a:solidFill>
            <a:srgbClr val="0119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296355" y="328874"/>
            <a:ext cx="7543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Manrope"/>
              <a:buNone/>
              <a:defRPr b="1" sz="21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3875" y="372357"/>
            <a:ext cx="776872" cy="1637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5"/>
          <p:cNvGrpSpPr/>
          <p:nvPr/>
        </p:nvGrpSpPr>
        <p:grpSpPr>
          <a:xfrm>
            <a:off x="1" y="1"/>
            <a:ext cx="9143999" cy="5143499"/>
            <a:chOff x="1" y="1"/>
            <a:chExt cx="12191999" cy="6857999"/>
          </a:xfrm>
        </p:grpSpPr>
        <p:grpSp>
          <p:nvGrpSpPr>
            <p:cNvPr id="169" name="Google Shape;169;p25"/>
            <p:cNvGrpSpPr/>
            <p:nvPr/>
          </p:nvGrpSpPr>
          <p:grpSpPr>
            <a:xfrm>
              <a:off x="1" y="1"/>
              <a:ext cx="12191999" cy="285749"/>
              <a:chOff x="1" y="1"/>
              <a:chExt cx="12191999" cy="285749"/>
            </a:xfrm>
          </p:grpSpPr>
          <p:pic>
            <p:nvPicPr>
              <p:cNvPr id="170" name="Google Shape;170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1" name="Google Shape;171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2" name="Google Shape;172;p25"/>
            <p:cNvGrpSpPr/>
            <p:nvPr/>
          </p:nvGrpSpPr>
          <p:grpSpPr>
            <a:xfrm flipH="1" rot="10800000">
              <a:off x="1" y="6572251"/>
              <a:ext cx="12191999" cy="285749"/>
              <a:chOff x="1" y="1"/>
              <a:chExt cx="12191999" cy="285749"/>
            </a:xfrm>
          </p:grpSpPr>
          <p:pic>
            <p:nvPicPr>
              <p:cNvPr id="173" name="Google Shape;173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" name="Google Shape;174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tistic blurry colorful wallpaper background" id="176" name="Google Shape;176;p26"/>
          <p:cNvPicPr preferRelativeResize="0"/>
          <p:nvPr/>
        </p:nvPicPr>
        <p:blipFill rotWithShape="1">
          <a:blip r:embed="rId2">
            <a:alphaModFix/>
          </a:blip>
          <a:srcRect b="0" l="0" r="0" t="15761"/>
          <a:stretch/>
        </p:blipFill>
        <p:spPr>
          <a:xfrm rot="10800000">
            <a:off x="1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/>
          <p:nvPr/>
        </p:nvSpPr>
        <p:spPr>
          <a:xfrm>
            <a:off x="-1" y="-1"/>
            <a:ext cx="91440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">
                <a:srgbClr val="FFFFFF">
                  <a:alpha val="0"/>
                </a:srgbClr>
              </a:gs>
              <a:gs pos="38000">
                <a:schemeClr val="lt1"/>
              </a:gs>
              <a:gs pos="67000">
                <a:srgbClr val="FFFFFF"/>
              </a:gs>
              <a:gs pos="8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26"/>
          <p:cNvSpPr/>
          <p:nvPr/>
        </p:nvSpPr>
        <p:spPr>
          <a:xfrm flipH="1">
            <a:off x="-175078" y="278494"/>
            <a:ext cx="350100" cy="350100"/>
          </a:xfrm>
          <a:prstGeom prst="pie">
            <a:avLst>
              <a:gd fmla="val 5403018" name="adj1"/>
              <a:gd fmla="val 1620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359" y="408939"/>
            <a:ext cx="150875" cy="8915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/>
          <p:nvPr/>
        </p:nvSpPr>
        <p:spPr>
          <a:xfrm>
            <a:off x="21574" y="433871"/>
            <a:ext cx="39300" cy="39300"/>
          </a:xfrm>
          <a:prstGeom prst="ellipse">
            <a:avLst/>
          </a:prstGeom>
          <a:solidFill>
            <a:srgbClr val="0119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6"/>
          <p:cNvSpPr txBox="1"/>
          <p:nvPr>
            <p:ph type="title"/>
          </p:nvPr>
        </p:nvSpPr>
        <p:spPr>
          <a:xfrm>
            <a:off x="296355" y="328874"/>
            <a:ext cx="7543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Manrope"/>
              <a:buNone/>
              <a:defRPr b="1" sz="21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6"/>
          <p:cNvSpPr/>
          <p:nvPr/>
        </p:nvSpPr>
        <p:spPr>
          <a:xfrm>
            <a:off x="8832006" y="4836462"/>
            <a:ext cx="177000" cy="1770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8816332" y="4873029"/>
            <a:ext cx="20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4" name="Google Shape;184;p26"/>
          <p:cNvGrpSpPr/>
          <p:nvPr/>
        </p:nvGrpSpPr>
        <p:grpSpPr>
          <a:xfrm>
            <a:off x="1" y="1"/>
            <a:ext cx="9143999" cy="5143499"/>
            <a:chOff x="1" y="1"/>
            <a:chExt cx="12191999" cy="6857999"/>
          </a:xfrm>
        </p:grpSpPr>
        <p:grpSp>
          <p:nvGrpSpPr>
            <p:cNvPr id="185" name="Google Shape;185;p26"/>
            <p:cNvGrpSpPr/>
            <p:nvPr/>
          </p:nvGrpSpPr>
          <p:grpSpPr>
            <a:xfrm>
              <a:off x="1" y="1"/>
              <a:ext cx="12191999" cy="285749"/>
              <a:chOff x="1" y="1"/>
              <a:chExt cx="12191999" cy="285749"/>
            </a:xfrm>
          </p:grpSpPr>
          <p:pic>
            <p:nvPicPr>
              <p:cNvPr id="186" name="Google Shape;186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7" name="Google Shape;187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8" name="Google Shape;188;p26"/>
            <p:cNvGrpSpPr/>
            <p:nvPr/>
          </p:nvGrpSpPr>
          <p:grpSpPr>
            <a:xfrm flipH="1" rot="10800000">
              <a:off x="1" y="6572251"/>
              <a:ext cx="12191999" cy="285749"/>
              <a:chOff x="1" y="1"/>
              <a:chExt cx="12191999" cy="285749"/>
            </a:xfrm>
          </p:grpSpPr>
          <p:pic>
            <p:nvPicPr>
              <p:cNvPr id="189" name="Google Shape;189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" name="Google Shape;190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91" name="Google Shape;19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3875" y="372357"/>
            <a:ext cx="776872" cy="163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nrope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5" name="Google Shape;195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/>
        </p:nvSpPr>
        <p:spPr>
          <a:xfrm>
            <a:off x="8832006" y="4836462"/>
            <a:ext cx="177000" cy="1770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8816332" y="4873029"/>
            <a:ext cx="20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28"/>
          <p:cNvSpPr/>
          <p:nvPr/>
        </p:nvSpPr>
        <p:spPr>
          <a:xfrm flipH="1">
            <a:off x="192277" y="238783"/>
            <a:ext cx="297600" cy="29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2" name="Google Shape;202;p28"/>
          <p:cNvGrpSpPr/>
          <p:nvPr/>
        </p:nvGrpSpPr>
        <p:grpSpPr>
          <a:xfrm>
            <a:off x="281960" y="305757"/>
            <a:ext cx="118084" cy="163749"/>
            <a:chOff x="28765" y="504105"/>
            <a:chExt cx="145066" cy="201166"/>
          </a:xfrm>
        </p:grpSpPr>
        <p:pic>
          <p:nvPicPr>
            <p:cNvPr id="203" name="Google Shape;203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13812" y="545252"/>
              <a:ext cx="201166" cy="1188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8"/>
            <p:cNvSpPr/>
            <p:nvPr/>
          </p:nvSpPr>
          <p:spPr>
            <a:xfrm>
              <a:off x="28765" y="578495"/>
              <a:ext cx="52500" cy="52500"/>
            </a:xfrm>
            <a:prstGeom prst="ellipse">
              <a:avLst/>
            </a:prstGeom>
            <a:solidFill>
              <a:srgbClr val="01194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5" name="Google Shape;205;p28"/>
          <p:cNvSpPr txBox="1"/>
          <p:nvPr>
            <p:ph type="title"/>
          </p:nvPr>
        </p:nvSpPr>
        <p:spPr>
          <a:xfrm>
            <a:off x="571500" y="238783"/>
            <a:ext cx="7125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Manrope"/>
              <a:buNone/>
              <a:defRPr b="1" sz="21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06" name="Google Shape;2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4356" y="238783"/>
            <a:ext cx="967511" cy="2038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8"/>
          <p:cNvGrpSpPr/>
          <p:nvPr/>
        </p:nvGrpSpPr>
        <p:grpSpPr>
          <a:xfrm>
            <a:off x="1" y="1"/>
            <a:ext cx="9143999" cy="5143499"/>
            <a:chOff x="1" y="1"/>
            <a:chExt cx="12191999" cy="6857999"/>
          </a:xfrm>
        </p:grpSpPr>
        <p:grpSp>
          <p:nvGrpSpPr>
            <p:cNvPr id="208" name="Google Shape;208;p28"/>
            <p:cNvGrpSpPr/>
            <p:nvPr/>
          </p:nvGrpSpPr>
          <p:grpSpPr>
            <a:xfrm>
              <a:off x="1" y="1"/>
              <a:ext cx="12191999" cy="285749"/>
              <a:chOff x="1" y="1"/>
              <a:chExt cx="12191999" cy="285749"/>
            </a:xfrm>
          </p:grpSpPr>
          <p:pic>
            <p:nvPicPr>
              <p:cNvPr id="209" name="Google Shape;209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0" name="Google Shape;210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1" name="Google Shape;211;p28"/>
            <p:cNvGrpSpPr/>
            <p:nvPr/>
          </p:nvGrpSpPr>
          <p:grpSpPr>
            <a:xfrm flipH="1" rot="10800000">
              <a:off x="1" y="6572251"/>
              <a:ext cx="12191999" cy="285749"/>
              <a:chOff x="1" y="1"/>
              <a:chExt cx="12191999" cy="285749"/>
            </a:xfrm>
          </p:grpSpPr>
          <p:pic>
            <p:nvPicPr>
              <p:cNvPr id="212" name="Google Shape;212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3" name="Google Shape;213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6" name="Google Shape;226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7" name="Google Shape;22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8" name="Google Shape;23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" name="Google Shape;24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5" name="Google Shape;245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" name="Google Shape;24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9" name="Google Shape;24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3" name="Google Shape;253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4" name="Google Shape;254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58" name="Google Shape;25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2" name="Google Shape;26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42"/>
          <p:cNvCxnSpPr/>
          <p:nvPr/>
        </p:nvCxnSpPr>
        <p:spPr>
          <a:xfrm>
            <a:off x="296355" y="4918472"/>
            <a:ext cx="8339100" cy="0"/>
          </a:xfrm>
          <a:prstGeom prst="straightConnector1">
            <a:avLst/>
          </a:prstGeom>
          <a:noFill/>
          <a:ln cap="flat" cmpd="sng" w="9525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42"/>
          <p:cNvSpPr/>
          <p:nvPr/>
        </p:nvSpPr>
        <p:spPr>
          <a:xfrm>
            <a:off x="8635604" y="4810125"/>
            <a:ext cx="216600" cy="216600"/>
          </a:xfrm>
          <a:prstGeom prst="ellipse">
            <a:avLst/>
          </a:prstGeom>
          <a:noFill/>
          <a:ln cap="flat" cmpd="sng" w="9525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42"/>
          <p:cNvSpPr txBox="1"/>
          <p:nvPr/>
        </p:nvSpPr>
        <p:spPr>
          <a:xfrm>
            <a:off x="8639771" y="4860764"/>
            <a:ext cx="208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42"/>
          <p:cNvSpPr/>
          <p:nvPr/>
        </p:nvSpPr>
        <p:spPr>
          <a:xfrm flipH="1">
            <a:off x="-175078" y="278494"/>
            <a:ext cx="350100" cy="350100"/>
          </a:xfrm>
          <a:prstGeom prst="pie">
            <a:avLst>
              <a:gd fmla="val 5403018" name="adj1"/>
              <a:gd fmla="val 1620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0" name="Google Shape;27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10359" y="408939"/>
            <a:ext cx="150875" cy="8915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2"/>
          <p:cNvSpPr/>
          <p:nvPr/>
        </p:nvSpPr>
        <p:spPr>
          <a:xfrm>
            <a:off x="21574" y="433871"/>
            <a:ext cx="39300" cy="39300"/>
          </a:xfrm>
          <a:prstGeom prst="ellipse">
            <a:avLst/>
          </a:prstGeom>
          <a:solidFill>
            <a:srgbClr val="0119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42"/>
          <p:cNvSpPr txBox="1"/>
          <p:nvPr>
            <p:ph type="title"/>
          </p:nvPr>
        </p:nvSpPr>
        <p:spPr>
          <a:xfrm>
            <a:off x="296355" y="328874"/>
            <a:ext cx="7543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Manrope"/>
              <a:buNone/>
              <a:defRPr b="1" sz="21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3" name="Google Shape;27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3875" y="372357"/>
            <a:ext cx="776872" cy="1637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42"/>
          <p:cNvGrpSpPr/>
          <p:nvPr/>
        </p:nvGrpSpPr>
        <p:grpSpPr>
          <a:xfrm>
            <a:off x="1" y="1"/>
            <a:ext cx="9143999" cy="5143499"/>
            <a:chOff x="1" y="1"/>
            <a:chExt cx="12191999" cy="6857999"/>
          </a:xfrm>
        </p:grpSpPr>
        <p:grpSp>
          <p:nvGrpSpPr>
            <p:cNvPr id="275" name="Google Shape;275;p42"/>
            <p:cNvGrpSpPr/>
            <p:nvPr/>
          </p:nvGrpSpPr>
          <p:grpSpPr>
            <a:xfrm>
              <a:off x="1" y="1"/>
              <a:ext cx="12191999" cy="285749"/>
              <a:chOff x="1" y="1"/>
              <a:chExt cx="12191999" cy="285749"/>
            </a:xfrm>
          </p:grpSpPr>
          <p:pic>
            <p:nvPicPr>
              <p:cNvPr id="276" name="Google Shape;276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" name="Google Shape;277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8" name="Google Shape;278;p42"/>
            <p:cNvGrpSpPr/>
            <p:nvPr/>
          </p:nvGrpSpPr>
          <p:grpSpPr>
            <a:xfrm flipH="1" rot="10800000">
              <a:off x="1" y="6572251"/>
              <a:ext cx="12191999" cy="285749"/>
              <a:chOff x="1" y="1"/>
              <a:chExt cx="12191999" cy="285749"/>
            </a:xfrm>
          </p:grpSpPr>
          <p:pic>
            <p:nvPicPr>
              <p:cNvPr id="279" name="Google Shape;279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0" name="Google Shape;280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1906251" y="1"/>
                <a:ext cx="285749" cy="2857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84" name="Google Shape;284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DS Template">
  <p:cSld name="1_MDS Template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/>
        </p:nvSpPr>
        <p:spPr>
          <a:xfrm>
            <a:off x="152400" y="30175"/>
            <a:ext cx="36489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4"/>
          <p:cNvSpPr txBox="1"/>
          <p:nvPr/>
        </p:nvSpPr>
        <p:spPr>
          <a:xfrm>
            <a:off x="3801175" y="30175"/>
            <a:ext cx="37710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6D9EE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44"/>
          <p:cNvSpPr txBox="1"/>
          <p:nvPr/>
        </p:nvSpPr>
        <p:spPr>
          <a:xfrm>
            <a:off x="8663050" y="4901550"/>
            <a:ext cx="32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4"/>
          <p:cNvSpPr txBox="1"/>
          <p:nvPr/>
        </p:nvSpPr>
        <p:spPr>
          <a:xfrm>
            <a:off x="6287987" y="4909244"/>
            <a:ext cx="237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600" u="none" cap="none" strike="noStrike">
                <a:solidFill>
                  <a:srgbClr val="0F4980"/>
                </a:solidFill>
                <a:latin typeface="Arial"/>
                <a:ea typeface="Arial"/>
                <a:cs typeface="Arial"/>
                <a:sym typeface="Arial"/>
              </a:rPr>
              <a:t>2024 Copyright  |  All rights reserved  |  Confidential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294590" y="216601"/>
            <a:ext cx="52968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i="0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293" name="Google Shape;293;p44"/>
          <p:cNvSpPr/>
          <p:nvPr/>
        </p:nvSpPr>
        <p:spPr>
          <a:xfrm>
            <a:off x="0" y="0"/>
            <a:ext cx="9144000" cy="1020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4"/>
          <p:cNvSpPr txBox="1"/>
          <p:nvPr>
            <p:ph idx="2" type="body"/>
          </p:nvPr>
        </p:nvSpPr>
        <p:spPr>
          <a:xfrm>
            <a:off x="214763" y="308272"/>
            <a:ext cx="52968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i="0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pic>
        <p:nvPicPr>
          <p:cNvPr descr="Nurix logo" id="295" name="Google Shape;29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4763" y="4843206"/>
            <a:ext cx="576263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nrope"/>
              <a:buNone/>
              <a:defRPr b="0" i="0" sz="3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nrope"/>
              <a:buNone/>
              <a:defRPr b="0" i="0" sz="3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3" name="Google Shape;22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table with a drink&#10;&#10;Description automatically generated" id="300" name="Google Shape;300;p45"/>
          <p:cNvPicPr preferRelativeResize="0"/>
          <p:nvPr/>
        </p:nvPicPr>
        <p:blipFill rotWithShape="1">
          <a:blip r:embed="rId3">
            <a:alphaModFix/>
          </a:blip>
          <a:srcRect b="3840" l="19652" r="1172" t="16983"/>
          <a:stretch/>
        </p:blipFill>
        <p:spPr>
          <a:xfrm>
            <a:off x="1428750" y="-600"/>
            <a:ext cx="771524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5"/>
          <p:cNvSpPr/>
          <p:nvPr/>
        </p:nvSpPr>
        <p:spPr>
          <a:xfrm>
            <a:off x="-1" y="-600"/>
            <a:ext cx="3738900" cy="5144700"/>
          </a:xfrm>
          <a:prstGeom prst="rect">
            <a:avLst/>
          </a:prstGeom>
          <a:gradFill>
            <a:gsLst>
              <a:gs pos="0">
                <a:schemeClr val="lt1"/>
              </a:gs>
              <a:gs pos="37000">
                <a:schemeClr val="lt1"/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45"/>
          <p:cNvSpPr/>
          <p:nvPr/>
        </p:nvSpPr>
        <p:spPr>
          <a:xfrm>
            <a:off x="-1" y="-600"/>
            <a:ext cx="9144000" cy="5395800"/>
          </a:xfrm>
          <a:prstGeom prst="roundRect">
            <a:avLst>
              <a:gd fmla="val 0" name="adj"/>
            </a:avLst>
          </a:prstGeom>
          <a:solidFill>
            <a:srgbClr val="0119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45"/>
          <p:cNvSpPr txBox="1"/>
          <p:nvPr/>
        </p:nvSpPr>
        <p:spPr>
          <a:xfrm>
            <a:off x="3306025" y="2178302"/>
            <a:ext cx="54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Voice</a:t>
            </a:r>
            <a:r>
              <a:rPr b="1" lang="en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​</a:t>
            </a:r>
            <a:r>
              <a:rPr lang="en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and Chat AI Agents</a:t>
            </a:r>
            <a:endParaRPr b="1" i="1" sz="2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04" name="Google Shape;304;p45"/>
          <p:cNvGrpSpPr/>
          <p:nvPr/>
        </p:nvGrpSpPr>
        <p:grpSpPr>
          <a:xfrm>
            <a:off x="1" y="2"/>
            <a:ext cx="5192821" cy="5395737"/>
            <a:chOff x="-1426246" y="-186120"/>
            <a:chExt cx="7529101" cy="7751382"/>
          </a:xfrm>
        </p:grpSpPr>
        <p:sp>
          <p:nvSpPr>
            <p:cNvPr id="305" name="Google Shape;305;p45"/>
            <p:cNvSpPr/>
            <p:nvPr/>
          </p:nvSpPr>
          <p:spPr>
            <a:xfrm>
              <a:off x="2969865" y="-186120"/>
              <a:ext cx="2989293" cy="2905344"/>
            </a:xfrm>
            <a:custGeom>
              <a:rect b="b" l="l" r="r" t="t"/>
              <a:pathLst>
                <a:path extrusionOk="0" h="194500" w="200120">
                  <a:moveTo>
                    <a:pt x="21527" y="127635"/>
                  </a:moveTo>
                  <a:lnTo>
                    <a:pt x="0" y="94774"/>
                  </a:lnTo>
                  <a:lnTo>
                    <a:pt x="62008" y="0"/>
                  </a:lnTo>
                  <a:lnTo>
                    <a:pt x="200120" y="0"/>
                  </a:lnTo>
                  <a:lnTo>
                    <a:pt x="65342" y="194501"/>
                  </a:lnTo>
                  <a:lnTo>
                    <a:pt x="21527" y="1276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6" name="Google Shape;306;p45"/>
            <p:cNvSpPr/>
            <p:nvPr/>
          </p:nvSpPr>
          <p:spPr>
            <a:xfrm>
              <a:off x="2968445" y="4375037"/>
              <a:ext cx="3134410" cy="3189903"/>
            </a:xfrm>
            <a:custGeom>
              <a:rect b="b" l="l" r="r" t="t"/>
              <a:pathLst>
                <a:path extrusionOk="0" h="213550" w="209835">
                  <a:moveTo>
                    <a:pt x="209836" y="213550"/>
                  </a:moveTo>
                  <a:lnTo>
                    <a:pt x="76771" y="213550"/>
                  </a:lnTo>
                  <a:lnTo>
                    <a:pt x="0" y="95631"/>
                  </a:lnTo>
                  <a:lnTo>
                    <a:pt x="18097" y="67818"/>
                  </a:lnTo>
                  <a:lnTo>
                    <a:pt x="62389" y="0"/>
                  </a:lnTo>
                  <a:lnTo>
                    <a:pt x="209836" y="2135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7" name="Google Shape;307;p45"/>
            <p:cNvSpPr/>
            <p:nvPr/>
          </p:nvSpPr>
          <p:spPr>
            <a:xfrm>
              <a:off x="-1426246" y="-186120"/>
              <a:ext cx="4626935" cy="7751382"/>
            </a:xfrm>
            <a:custGeom>
              <a:rect b="b" l="l" r="r" t="t"/>
              <a:pathLst>
                <a:path extrusionOk="0" h="518921" w="309753">
                  <a:moveTo>
                    <a:pt x="309753" y="247555"/>
                  </a:moveTo>
                  <a:lnTo>
                    <a:pt x="253079" y="334613"/>
                  </a:lnTo>
                  <a:lnTo>
                    <a:pt x="252032" y="336233"/>
                  </a:lnTo>
                  <a:lnTo>
                    <a:pt x="132969" y="518922"/>
                  </a:lnTo>
                  <a:lnTo>
                    <a:pt x="0" y="518922"/>
                  </a:lnTo>
                  <a:lnTo>
                    <a:pt x="184213" y="251936"/>
                  </a:lnTo>
                  <a:lnTo>
                    <a:pt x="9525" y="0"/>
                  </a:lnTo>
                  <a:lnTo>
                    <a:pt x="147638" y="0"/>
                  </a:lnTo>
                  <a:lnTo>
                    <a:pt x="252032" y="159353"/>
                  </a:lnTo>
                  <a:lnTo>
                    <a:pt x="256604" y="166402"/>
                  </a:lnTo>
                  <a:lnTo>
                    <a:pt x="309753" y="2475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8" name="Google Shape;308;p45"/>
          <p:cNvGrpSpPr/>
          <p:nvPr/>
        </p:nvGrpSpPr>
        <p:grpSpPr>
          <a:xfrm>
            <a:off x="7661163" y="251732"/>
            <a:ext cx="1043114" cy="221465"/>
            <a:chOff x="8971771" y="522474"/>
            <a:chExt cx="2481833" cy="526922"/>
          </a:xfrm>
        </p:grpSpPr>
        <p:sp>
          <p:nvSpPr>
            <p:cNvPr id="309" name="Google Shape;309;p45"/>
            <p:cNvSpPr/>
            <p:nvPr/>
          </p:nvSpPr>
          <p:spPr>
            <a:xfrm>
              <a:off x="8971771" y="522474"/>
              <a:ext cx="443864" cy="518921"/>
            </a:xfrm>
            <a:custGeom>
              <a:rect b="b" l="l" r="r" t="t"/>
              <a:pathLst>
                <a:path extrusionOk="0" h="518921" w="443864">
                  <a:moveTo>
                    <a:pt x="443865" y="0"/>
                  </a:moveTo>
                  <a:lnTo>
                    <a:pt x="443865" y="518922"/>
                  </a:lnTo>
                  <a:lnTo>
                    <a:pt x="357854" y="518922"/>
                  </a:lnTo>
                  <a:lnTo>
                    <a:pt x="116110" y="208407"/>
                  </a:lnTo>
                  <a:lnTo>
                    <a:pt x="116110" y="518922"/>
                  </a:lnTo>
                  <a:lnTo>
                    <a:pt x="0" y="518922"/>
                  </a:lnTo>
                  <a:lnTo>
                    <a:pt x="0" y="0"/>
                  </a:lnTo>
                  <a:lnTo>
                    <a:pt x="81629" y="0"/>
                  </a:lnTo>
                  <a:lnTo>
                    <a:pt x="326993" y="314611"/>
                  </a:lnTo>
                  <a:lnTo>
                    <a:pt x="326993" y="0"/>
                  </a:lnTo>
                  <a:lnTo>
                    <a:pt x="4438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45"/>
            <p:cNvSpPr/>
            <p:nvPr/>
          </p:nvSpPr>
          <p:spPr>
            <a:xfrm>
              <a:off x="9565368" y="522474"/>
              <a:ext cx="432149" cy="526922"/>
            </a:xfrm>
            <a:custGeom>
              <a:rect b="b" l="l" r="r" t="t"/>
              <a:pathLst>
                <a:path extrusionOk="0" h="526922" w="432149">
                  <a:moveTo>
                    <a:pt x="315182" y="0"/>
                  </a:moveTo>
                  <a:lnTo>
                    <a:pt x="315182" y="321088"/>
                  </a:lnTo>
                  <a:cubicBezTo>
                    <a:pt x="315182" y="341662"/>
                    <a:pt x="310991" y="359569"/>
                    <a:pt x="302705" y="374714"/>
                  </a:cubicBezTo>
                  <a:cubicBezTo>
                    <a:pt x="294323" y="389858"/>
                    <a:pt x="282702" y="401384"/>
                    <a:pt x="267843" y="409194"/>
                  </a:cubicBezTo>
                  <a:cubicBezTo>
                    <a:pt x="252889" y="417005"/>
                    <a:pt x="236125" y="420910"/>
                    <a:pt x="217551" y="420910"/>
                  </a:cubicBezTo>
                  <a:cubicBezTo>
                    <a:pt x="198977" y="420910"/>
                    <a:pt x="181261" y="417005"/>
                    <a:pt x="166116" y="409194"/>
                  </a:cubicBezTo>
                  <a:cubicBezTo>
                    <a:pt x="150971" y="401384"/>
                    <a:pt x="138779" y="389858"/>
                    <a:pt x="129731" y="374714"/>
                  </a:cubicBezTo>
                  <a:cubicBezTo>
                    <a:pt x="120682" y="359569"/>
                    <a:pt x="116110" y="341376"/>
                    <a:pt x="116110" y="320326"/>
                  </a:cubicBezTo>
                  <a:lnTo>
                    <a:pt x="116110" y="0"/>
                  </a:lnTo>
                  <a:lnTo>
                    <a:pt x="0" y="0"/>
                  </a:lnTo>
                  <a:lnTo>
                    <a:pt x="0" y="314516"/>
                  </a:lnTo>
                  <a:cubicBezTo>
                    <a:pt x="0" y="355187"/>
                    <a:pt x="9239" y="391573"/>
                    <a:pt x="27623" y="423672"/>
                  </a:cubicBezTo>
                  <a:cubicBezTo>
                    <a:pt x="46006" y="455771"/>
                    <a:pt x="71438" y="481013"/>
                    <a:pt x="104013" y="499396"/>
                  </a:cubicBezTo>
                  <a:cubicBezTo>
                    <a:pt x="136589" y="517779"/>
                    <a:pt x="174403" y="526923"/>
                    <a:pt x="217551" y="526923"/>
                  </a:cubicBezTo>
                  <a:cubicBezTo>
                    <a:pt x="260699" y="526923"/>
                    <a:pt x="296894" y="517684"/>
                    <a:pt x="329279" y="499396"/>
                  </a:cubicBezTo>
                  <a:cubicBezTo>
                    <a:pt x="361569" y="481013"/>
                    <a:pt x="386810" y="455962"/>
                    <a:pt x="404908" y="424053"/>
                  </a:cubicBezTo>
                  <a:cubicBezTo>
                    <a:pt x="423005" y="392240"/>
                    <a:pt x="432149" y="355949"/>
                    <a:pt x="432149" y="315278"/>
                  </a:cubicBezTo>
                  <a:lnTo>
                    <a:pt x="432149" y="0"/>
                  </a:lnTo>
                  <a:lnTo>
                    <a:pt x="315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1" name="Google Shape;311;p45"/>
            <p:cNvSpPr/>
            <p:nvPr/>
          </p:nvSpPr>
          <p:spPr>
            <a:xfrm>
              <a:off x="10147060" y="522474"/>
              <a:ext cx="419576" cy="518731"/>
            </a:xfrm>
            <a:custGeom>
              <a:rect b="b" l="l" r="r" t="t"/>
              <a:pathLst>
                <a:path extrusionOk="0" h="518731" w="419576">
                  <a:moveTo>
                    <a:pt x="254413" y="301847"/>
                  </a:moveTo>
                  <a:cubicBezTo>
                    <a:pt x="271748" y="298704"/>
                    <a:pt x="287560" y="293656"/>
                    <a:pt x="302133" y="286703"/>
                  </a:cubicBezTo>
                  <a:cubicBezTo>
                    <a:pt x="328613" y="273939"/>
                    <a:pt x="349187" y="256223"/>
                    <a:pt x="363855" y="233458"/>
                  </a:cubicBezTo>
                  <a:cubicBezTo>
                    <a:pt x="378524" y="210693"/>
                    <a:pt x="385858" y="183642"/>
                    <a:pt x="385858" y="152210"/>
                  </a:cubicBezTo>
                  <a:cubicBezTo>
                    <a:pt x="385858" y="122777"/>
                    <a:pt x="378619" y="96584"/>
                    <a:pt x="364236" y="73533"/>
                  </a:cubicBezTo>
                  <a:cubicBezTo>
                    <a:pt x="349758" y="50578"/>
                    <a:pt x="329565" y="32480"/>
                    <a:pt x="303562" y="19526"/>
                  </a:cubicBezTo>
                  <a:cubicBezTo>
                    <a:pt x="277559" y="6572"/>
                    <a:pt x="247269" y="0"/>
                    <a:pt x="212408" y="0"/>
                  </a:cubicBezTo>
                  <a:lnTo>
                    <a:pt x="0" y="0"/>
                  </a:lnTo>
                  <a:lnTo>
                    <a:pt x="0" y="518732"/>
                  </a:lnTo>
                  <a:lnTo>
                    <a:pt x="116110" y="518732"/>
                  </a:lnTo>
                  <a:lnTo>
                    <a:pt x="116110" y="305657"/>
                  </a:lnTo>
                  <a:lnTo>
                    <a:pt x="127921" y="305657"/>
                  </a:lnTo>
                  <a:lnTo>
                    <a:pt x="282130" y="518732"/>
                  </a:lnTo>
                  <a:lnTo>
                    <a:pt x="419576" y="518732"/>
                  </a:lnTo>
                  <a:lnTo>
                    <a:pt x="254317" y="301752"/>
                  </a:lnTo>
                  <a:lnTo>
                    <a:pt x="254413" y="301752"/>
                  </a:lnTo>
                  <a:close/>
                  <a:moveTo>
                    <a:pt x="116205" y="219075"/>
                  </a:moveTo>
                  <a:lnTo>
                    <a:pt x="116205" y="90488"/>
                  </a:lnTo>
                  <a:lnTo>
                    <a:pt x="199263" y="90488"/>
                  </a:lnTo>
                  <a:cubicBezTo>
                    <a:pt x="221742" y="90488"/>
                    <a:pt x="239268" y="96584"/>
                    <a:pt x="251841" y="108871"/>
                  </a:cubicBezTo>
                  <a:cubicBezTo>
                    <a:pt x="264319" y="121063"/>
                    <a:pt x="270605" y="136589"/>
                    <a:pt x="270605" y="155162"/>
                  </a:cubicBezTo>
                  <a:cubicBezTo>
                    <a:pt x="270605" y="174784"/>
                    <a:pt x="264224" y="190310"/>
                    <a:pt x="251460" y="201835"/>
                  </a:cubicBezTo>
                  <a:cubicBezTo>
                    <a:pt x="238696" y="213360"/>
                    <a:pt x="221075" y="219170"/>
                    <a:pt x="198596" y="219170"/>
                  </a:cubicBezTo>
                  <a:lnTo>
                    <a:pt x="116205" y="2191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2" name="Google Shape;312;p45"/>
            <p:cNvSpPr/>
            <p:nvPr/>
          </p:nvSpPr>
          <p:spPr>
            <a:xfrm>
              <a:off x="11243864" y="522474"/>
              <a:ext cx="200120" cy="194500"/>
            </a:xfrm>
            <a:custGeom>
              <a:rect b="b" l="l" r="r" t="t"/>
              <a:pathLst>
                <a:path extrusionOk="0" h="194500" w="200120">
                  <a:moveTo>
                    <a:pt x="21527" y="127635"/>
                  </a:moveTo>
                  <a:lnTo>
                    <a:pt x="0" y="94774"/>
                  </a:lnTo>
                  <a:lnTo>
                    <a:pt x="62008" y="0"/>
                  </a:lnTo>
                  <a:lnTo>
                    <a:pt x="200120" y="0"/>
                  </a:lnTo>
                  <a:lnTo>
                    <a:pt x="65342" y="194501"/>
                  </a:lnTo>
                  <a:lnTo>
                    <a:pt x="21527" y="1276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3" name="Google Shape;313;p45"/>
            <p:cNvSpPr/>
            <p:nvPr/>
          </p:nvSpPr>
          <p:spPr>
            <a:xfrm>
              <a:off x="11243769" y="827845"/>
              <a:ext cx="209835" cy="213550"/>
            </a:xfrm>
            <a:custGeom>
              <a:rect b="b" l="l" r="r" t="t"/>
              <a:pathLst>
                <a:path extrusionOk="0" h="213550" w="209835">
                  <a:moveTo>
                    <a:pt x="209836" y="213550"/>
                  </a:moveTo>
                  <a:lnTo>
                    <a:pt x="76771" y="213550"/>
                  </a:lnTo>
                  <a:lnTo>
                    <a:pt x="0" y="95631"/>
                  </a:lnTo>
                  <a:lnTo>
                    <a:pt x="18097" y="67818"/>
                  </a:lnTo>
                  <a:lnTo>
                    <a:pt x="62389" y="0"/>
                  </a:lnTo>
                  <a:lnTo>
                    <a:pt x="209836" y="2135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4" name="Google Shape;314;p45"/>
            <p:cNvSpPr/>
            <p:nvPr/>
          </p:nvSpPr>
          <p:spPr>
            <a:xfrm>
              <a:off x="10949541" y="522474"/>
              <a:ext cx="309753" cy="518921"/>
            </a:xfrm>
            <a:custGeom>
              <a:rect b="b" l="l" r="r" t="t"/>
              <a:pathLst>
                <a:path extrusionOk="0" h="518921" w="309753">
                  <a:moveTo>
                    <a:pt x="309753" y="247555"/>
                  </a:moveTo>
                  <a:lnTo>
                    <a:pt x="253079" y="334613"/>
                  </a:lnTo>
                  <a:lnTo>
                    <a:pt x="252032" y="336233"/>
                  </a:lnTo>
                  <a:lnTo>
                    <a:pt x="132969" y="518922"/>
                  </a:lnTo>
                  <a:lnTo>
                    <a:pt x="0" y="518922"/>
                  </a:lnTo>
                  <a:lnTo>
                    <a:pt x="184213" y="251936"/>
                  </a:lnTo>
                  <a:lnTo>
                    <a:pt x="9525" y="0"/>
                  </a:lnTo>
                  <a:lnTo>
                    <a:pt x="147638" y="0"/>
                  </a:lnTo>
                  <a:lnTo>
                    <a:pt x="252032" y="159353"/>
                  </a:lnTo>
                  <a:lnTo>
                    <a:pt x="256604" y="166402"/>
                  </a:lnTo>
                  <a:lnTo>
                    <a:pt x="309753" y="247555"/>
                  </a:lnTo>
                  <a:close/>
                </a:path>
              </a:pathLst>
            </a:custGeom>
            <a:solidFill>
              <a:srgbClr val="245AE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5" name="Google Shape;315;p45"/>
            <p:cNvSpPr/>
            <p:nvPr/>
          </p:nvSpPr>
          <p:spPr>
            <a:xfrm>
              <a:off x="10683699" y="522474"/>
              <a:ext cx="116109" cy="92297"/>
            </a:xfrm>
            <a:custGeom>
              <a:rect b="b" l="l" r="r" t="t"/>
              <a:pathLst>
                <a:path extrusionOk="0" h="92297" w="116109">
                  <a:moveTo>
                    <a:pt x="0" y="0"/>
                  </a:moveTo>
                  <a:lnTo>
                    <a:pt x="116110" y="0"/>
                  </a:lnTo>
                  <a:lnTo>
                    <a:pt x="116110" y="92297"/>
                  </a:lnTo>
                  <a:lnTo>
                    <a:pt x="0" y="922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6" name="Google Shape;316;p45"/>
            <p:cNvSpPr/>
            <p:nvPr/>
          </p:nvSpPr>
          <p:spPr>
            <a:xfrm>
              <a:off x="10683699" y="614866"/>
              <a:ext cx="116109" cy="426529"/>
            </a:xfrm>
            <a:custGeom>
              <a:rect b="b" l="l" r="r" t="t"/>
              <a:pathLst>
                <a:path extrusionOk="0" h="426529" w="116109">
                  <a:moveTo>
                    <a:pt x="116110" y="0"/>
                  </a:moveTo>
                  <a:lnTo>
                    <a:pt x="116110" y="426530"/>
                  </a:lnTo>
                  <a:lnTo>
                    <a:pt x="0" y="426530"/>
                  </a:lnTo>
                  <a:lnTo>
                    <a:pt x="0" y="116110"/>
                  </a:lnTo>
                  <a:cubicBezTo>
                    <a:pt x="0" y="52007"/>
                    <a:pt x="52007" y="0"/>
                    <a:pt x="116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Inter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17" name="Google Shape;317;p45"/>
          <p:cNvSpPr txBox="1"/>
          <p:nvPr/>
        </p:nvSpPr>
        <p:spPr>
          <a:xfrm>
            <a:off x="4199852" y="4643875"/>
            <a:ext cx="477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Nurix | </a:t>
            </a:r>
            <a:r>
              <a:rPr b="1" lang="en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Unifi</a:t>
            </a:r>
            <a:endParaRPr b="1" sz="2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/>
          <p:nvPr/>
        </p:nvSpPr>
        <p:spPr>
          <a:xfrm>
            <a:off x="4053950" y="-1120175"/>
            <a:ext cx="7383900" cy="7383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6"/>
          <p:cNvSpPr/>
          <p:nvPr/>
        </p:nvSpPr>
        <p:spPr>
          <a:xfrm>
            <a:off x="4946325" y="-227800"/>
            <a:ext cx="5889600" cy="58896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6"/>
          <p:cNvSpPr/>
          <p:nvPr/>
        </p:nvSpPr>
        <p:spPr>
          <a:xfrm>
            <a:off x="5873425" y="699275"/>
            <a:ext cx="4035300" cy="40353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6"/>
          <p:cNvSpPr/>
          <p:nvPr/>
        </p:nvSpPr>
        <p:spPr>
          <a:xfrm>
            <a:off x="6906950" y="1732800"/>
            <a:ext cx="1967700" cy="19677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6"/>
          <p:cNvSpPr txBox="1"/>
          <p:nvPr/>
        </p:nvSpPr>
        <p:spPr>
          <a:xfrm>
            <a:off x="287775" y="198750"/>
            <a:ext cx="454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Agenda</a:t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27" name="Google Shape;327;p46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50" y="3854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6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6"/>
          <p:cNvSpPr/>
          <p:nvPr/>
        </p:nvSpPr>
        <p:spPr>
          <a:xfrm rot="10800000">
            <a:off x="9200800" y="-343765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6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6"/>
          <p:cNvSpPr/>
          <p:nvPr/>
        </p:nvSpPr>
        <p:spPr>
          <a:xfrm>
            <a:off x="3981838" y="2735719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6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6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6"/>
          <p:cNvSpPr/>
          <p:nvPr/>
        </p:nvSpPr>
        <p:spPr>
          <a:xfrm>
            <a:off x="4911025" y="25740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6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6"/>
          <p:cNvSpPr/>
          <p:nvPr/>
        </p:nvSpPr>
        <p:spPr>
          <a:xfrm>
            <a:off x="5729050" y="47259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6"/>
          <p:cNvSpPr/>
          <p:nvPr/>
        </p:nvSpPr>
        <p:spPr>
          <a:xfrm>
            <a:off x="6886775" y="25109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6"/>
          <p:cNvSpPr txBox="1"/>
          <p:nvPr/>
        </p:nvSpPr>
        <p:spPr>
          <a:xfrm>
            <a:off x="287775" y="1163550"/>
            <a:ext cx="79128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b="1"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Team Structure &amp; Roles: </a:t>
            </a: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Introductions and role definitions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b="1"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Implementation Overview : </a:t>
            </a: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Key milestones and path to production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b="1"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Use Case Deep Dive : </a:t>
            </a: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Understanding of the E2E use case and current workflows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b="1"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Project Overview &amp; Timeline : </a:t>
            </a: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Integration checkpoints &amp; tentative timelines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b="1"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Immediate Requirements: </a:t>
            </a: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CRM / Dialer &amp; API access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b="1"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Operational Setup:</a:t>
            </a: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 Tools, sprints and cadence,availability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b="1"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Next Steps + Q&amp;A</a:t>
            </a:r>
            <a:endParaRPr b="1"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 txBox="1"/>
          <p:nvPr/>
        </p:nvSpPr>
        <p:spPr>
          <a:xfrm>
            <a:off x="3450" y="28309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Scope 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Voice AI Agent for candidate qualification and screening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Chat AI agent based candidate application system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5" name="Google Shape;345;p47"/>
          <p:cNvSpPr/>
          <p:nvPr/>
        </p:nvSpPr>
        <p:spPr>
          <a:xfrm>
            <a:off x="4053950" y="-1120175"/>
            <a:ext cx="7383900" cy="7383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7"/>
          <p:cNvSpPr/>
          <p:nvPr/>
        </p:nvSpPr>
        <p:spPr>
          <a:xfrm>
            <a:off x="4946325" y="-227800"/>
            <a:ext cx="5889600" cy="58896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7"/>
          <p:cNvSpPr/>
          <p:nvPr/>
        </p:nvSpPr>
        <p:spPr>
          <a:xfrm>
            <a:off x="5873425" y="699275"/>
            <a:ext cx="4035300" cy="40353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7"/>
          <p:cNvSpPr/>
          <p:nvPr/>
        </p:nvSpPr>
        <p:spPr>
          <a:xfrm>
            <a:off x="6906950" y="1732800"/>
            <a:ext cx="1967700" cy="19677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7"/>
          <p:cNvSpPr txBox="1"/>
          <p:nvPr/>
        </p:nvSpPr>
        <p:spPr>
          <a:xfrm>
            <a:off x="287775" y="198750"/>
            <a:ext cx="512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Objective of the Project</a:t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50" name="Google Shape;350;p47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50" y="3854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7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7"/>
          <p:cNvSpPr/>
          <p:nvPr/>
        </p:nvSpPr>
        <p:spPr>
          <a:xfrm rot="10800000">
            <a:off x="9200800" y="-3430064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7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7"/>
          <p:cNvSpPr/>
          <p:nvPr/>
        </p:nvSpPr>
        <p:spPr>
          <a:xfrm>
            <a:off x="3981838" y="2735719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7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7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7"/>
          <p:cNvSpPr/>
          <p:nvPr/>
        </p:nvSpPr>
        <p:spPr>
          <a:xfrm>
            <a:off x="4911025" y="25740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7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7"/>
          <p:cNvSpPr/>
          <p:nvPr/>
        </p:nvSpPr>
        <p:spPr>
          <a:xfrm>
            <a:off x="5729050" y="47259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7"/>
          <p:cNvSpPr/>
          <p:nvPr/>
        </p:nvSpPr>
        <p:spPr>
          <a:xfrm>
            <a:off x="6886775" y="25109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2800" y="1590450"/>
            <a:ext cx="981300" cy="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6662" y="1580825"/>
            <a:ext cx="981300" cy="9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7"/>
          <p:cNvSpPr txBox="1"/>
          <p:nvPr/>
        </p:nvSpPr>
        <p:spPr>
          <a:xfrm>
            <a:off x="3187313" y="300780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Goals &amp; Use Cases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Candidate screening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Interview scheduling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Follow ups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Onboarding assistance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Post offer engagement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Effortless job applications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Real time query handling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6371175" y="28309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Success Metrics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 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66" name="Google Shape;366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6337" y="1565875"/>
            <a:ext cx="929676" cy="92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/>
          <p:nvPr/>
        </p:nvSpPr>
        <p:spPr>
          <a:xfrm>
            <a:off x="4053950" y="-1120175"/>
            <a:ext cx="7383900" cy="7383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8"/>
          <p:cNvSpPr/>
          <p:nvPr/>
        </p:nvSpPr>
        <p:spPr>
          <a:xfrm>
            <a:off x="4946325" y="-227800"/>
            <a:ext cx="5889600" cy="58896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8"/>
          <p:cNvSpPr/>
          <p:nvPr/>
        </p:nvSpPr>
        <p:spPr>
          <a:xfrm>
            <a:off x="5873425" y="699275"/>
            <a:ext cx="4035300" cy="40353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8"/>
          <p:cNvSpPr/>
          <p:nvPr/>
        </p:nvSpPr>
        <p:spPr>
          <a:xfrm>
            <a:off x="6906950" y="1732800"/>
            <a:ext cx="1967700" cy="19677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8"/>
          <p:cNvSpPr txBox="1"/>
          <p:nvPr/>
        </p:nvSpPr>
        <p:spPr>
          <a:xfrm>
            <a:off x="287775" y="198750"/>
            <a:ext cx="454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Stakeholders Map</a:t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76" name="Google Shape;376;p48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50" y="3854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8"/>
          <p:cNvSpPr/>
          <p:nvPr/>
        </p:nvSpPr>
        <p:spPr>
          <a:xfrm rot="5400000">
            <a:off x="253370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8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8"/>
          <p:cNvSpPr/>
          <p:nvPr/>
        </p:nvSpPr>
        <p:spPr>
          <a:xfrm rot="10800000">
            <a:off x="9200800" y="-343765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8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8"/>
          <p:cNvSpPr/>
          <p:nvPr/>
        </p:nvSpPr>
        <p:spPr>
          <a:xfrm>
            <a:off x="3981838" y="2735719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8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8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8"/>
          <p:cNvSpPr/>
          <p:nvPr/>
        </p:nvSpPr>
        <p:spPr>
          <a:xfrm>
            <a:off x="4911025" y="25740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8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8"/>
          <p:cNvSpPr/>
          <p:nvPr/>
        </p:nvSpPr>
        <p:spPr>
          <a:xfrm>
            <a:off x="5729050" y="47259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8"/>
          <p:cNvSpPr/>
          <p:nvPr/>
        </p:nvSpPr>
        <p:spPr>
          <a:xfrm>
            <a:off x="6886775" y="25109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9" name="Google Shape;389;p48"/>
          <p:cNvGraphicFramePr/>
          <p:nvPr/>
        </p:nvGraphicFramePr>
        <p:xfrm>
          <a:off x="196338" y="1841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{64876C4F-11DA-4D1F-936A-5AADDE0883E5}</a:tableStyleId>
              </a:tblPr>
              <a:tblGrid>
                <a:gridCol w="2433650"/>
                <a:gridCol w="2280125"/>
              </a:tblGrid>
              <a:tr h="38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Stakeholders Map (POC)</a:t>
                      </a:r>
                      <a:endParaRPr b="1"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245A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Nurix</a:t>
                      </a:r>
                      <a:endParaRPr b="1"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245AE2"/>
                    </a:solidFill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Technical Program Manager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Taruna Uppala</a:t>
                      </a:r>
                      <a:endParaRPr sz="12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Solution Architect</a:t>
                      </a:r>
                      <a:endParaRPr sz="12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Abhishek Jain</a:t>
                      </a:r>
                      <a:endParaRPr sz="12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Engineering Lead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Aman Kumar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Executive Sponsor</a:t>
                      </a:r>
                      <a:endParaRPr sz="12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Chirag Patel</a:t>
                      </a:r>
                      <a:endParaRPr sz="12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90" name="Google Shape;390;p48"/>
          <p:cNvPicPr preferRelativeResize="0"/>
          <p:nvPr>
            <p:ph idx="2" type="pic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6425" y="863975"/>
            <a:ext cx="3823500" cy="3823200"/>
          </a:xfrm>
          <a:prstGeom prst="roundRect">
            <a:avLst>
              <a:gd fmla="val 81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9"/>
          <p:cNvSpPr/>
          <p:nvPr/>
        </p:nvSpPr>
        <p:spPr>
          <a:xfrm>
            <a:off x="4053950" y="-1120175"/>
            <a:ext cx="7383900" cy="7383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9"/>
          <p:cNvSpPr/>
          <p:nvPr/>
        </p:nvSpPr>
        <p:spPr>
          <a:xfrm>
            <a:off x="4946325" y="-227800"/>
            <a:ext cx="5889600" cy="58896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9"/>
          <p:cNvSpPr/>
          <p:nvPr/>
        </p:nvSpPr>
        <p:spPr>
          <a:xfrm>
            <a:off x="5873425" y="699275"/>
            <a:ext cx="4035300" cy="40353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9"/>
          <p:cNvSpPr/>
          <p:nvPr/>
        </p:nvSpPr>
        <p:spPr>
          <a:xfrm>
            <a:off x="6906950" y="1732800"/>
            <a:ext cx="1967700" cy="19677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9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7650" y="806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9"/>
          <p:cNvSpPr/>
          <p:nvPr/>
        </p:nvSpPr>
        <p:spPr>
          <a:xfrm rot="10800000">
            <a:off x="9200800" y="-33518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9"/>
          <p:cNvSpPr/>
          <p:nvPr/>
        </p:nvSpPr>
        <p:spPr>
          <a:xfrm>
            <a:off x="3981838" y="2735719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9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9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9"/>
          <p:cNvSpPr/>
          <p:nvPr/>
        </p:nvSpPr>
        <p:spPr>
          <a:xfrm>
            <a:off x="4911025" y="25740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9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9"/>
          <p:cNvSpPr/>
          <p:nvPr/>
        </p:nvSpPr>
        <p:spPr>
          <a:xfrm>
            <a:off x="5729050" y="47259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9"/>
          <p:cNvSpPr/>
          <p:nvPr/>
        </p:nvSpPr>
        <p:spPr>
          <a:xfrm>
            <a:off x="6886775" y="25109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9"/>
          <p:cNvSpPr txBox="1"/>
          <p:nvPr/>
        </p:nvSpPr>
        <p:spPr>
          <a:xfrm>
            <a:off x="8816332" y="4873029"/>
            <a:ext cx="20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49"/>
          <p:cNvSpPr txBox="1"/>
          <p:nvPr>
            <p:ph idx="4294967295" type="title"/>
          </p:nvPr>
        </p:nvSpPr>
        <p:spPr>
          <a:xfrm>
            <a:off x="296355" y="328874"/>
            <a:ext cx="7543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accent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Project Overview &amp; Key Milestones</a:t>
            </a:r>
            <a:endParaRPr sz="2100">
              <a:solidFill>
                <a:schemeClr val="accent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grpSp>
        <p:nvGrpSpPr>
          <p:cNvPr id="413" name="Google Shape;413;p49"/>
          <p:cNvGrpSpPr/>
          <p:nvPr/>
        </p:nvGrpSpPr>
        <p:grpSpPr>
          <a:xfrm>
            <a:off x="4891822" y="2803972"/>
            <a:ext cx="4094303" cy="1196520"/>
            <a:chOff x="3977400" y="946003"/>
            <a:chExt cx="4094303" cy="1196520"/>
          </a:xfrm>
        </p:grpSpPr>
        <p:grpSp>
          <p:nvGrpSpPr>
            <p:cNvPr id="414" name="Google Shape;414;p49"/>
            <p:cNvGrpSpPr/>
            <p:nvPr/>
          </p:nvGrpSpPr>
          <p:grpSpPr>
            <a:xfrm>
              <a:off x="4732925" y="1142460"/>
              <a:ext cx="529800" cy="1000063"/>
              <a:chOff x="4318975" y="1084322"/>
              <a:chExt cx="529800" cy="592174"/>
            </a:xfrm>
          </p:grpSpPr>
          <p:sp>
            <p:nvSpPr>
              <p:cNvPr id="415" name="Google Shape;415;p49"/>
              <p:cNvSpPr/>
              <p:nvPr/>
            </p:nvSpPr>
            <p:spPr>
              <a:xfrm>
                <a:off x="4517129" y="1086096"/>
                <a:ext cx="133500" cy="590400"/>
              </a:xfrm>
              <a:prstGeom prst="rect">
                <a:avLst/>
              </a:prstGeom>
              <a:solidFill>
                <a:srgbClr val="245A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16" name="Google Shape;416;p49"/>
              <p:cNvCxnSpPr/>
              <p:nvPr/>
            </p:nvCxnSpPr>
            <p:spPr>
              <a:xfrm rot="10800000">
                <a:off x="4318975" y="1084322"/>
                <a:ext cx="529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45AE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17" name="Google Shape;417;p49"/>
            <p:cNvSpPr txBox="1"/>
            <p:nvPr/>
          </p:nvSpPr>
          <p:spPr>
            <a:xfrm>
              <a:off x="5343500" y="946003"/>
              <a:ext cx="2728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UAT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8" name="Google Shape;418;p49"/>
            <p:cNvSpPr txBox="1"/>
            <p:nvPr/>
          </p:nvSpPr>
          <p:spPr>
            <a:xfrm>
              <a:off x="5343504" y="1222262"/>
              <a:ext cx="2728200" cy="7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Acceptance Testing &amp; Production Readiness - </a:t>
              </a:r>
              <a:r>
                <a:rPr b="1" i="1"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3 weeks</a:t>
              </a:r>
              <a:endParaRPr b="1" i="1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9" name="Google Shape;419;p49"/>
            <p:cNvSpPr txBox="1"/>
            <p:nvPr/>
          </p:nvSpPr>
          <p:spPr>
            <a:xfrm>
              <a:off x="3977400" y="973693"/>
              <a:ext cx="7584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Phase 3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0" name="Google Shape;420;p49"/>
          <p:cNvGrpSpPr/>
          <p:nvPr/>
        </p:nvGrpSpPr>
        <p:grpSpPr>
          <a:xfrm>
            <a:off x="4891822" y="1803170"/>
            <a:ext cx="4094303" cy="1193487"/>
            <a:chOff x="3977400" y="946003"/>
            <a:chExt cx="4094303" cy="1193487"/>
          </a:xfrm>
        </p:grpSpPr>
        <p:grpSp>
          <p:nvGrpSpPr>
            <p:cNvPr id="421" name="Google Shape;421;p49"/>
            <p:cNvGrpSpPr/>
            <p:nvPr/>
          </p:nvGrpSpPr>
          <p:grpSpPr>
            <a:xfrm>
              <a:off x="4732925" y="1142460"/>
              <a:ext cx="529800" cy="997030"/>
              <a:chOff x="4318975" y="1084322"/>
              <a:chExt cx="529800" cy="590378"/>
            </a:xfrm>
          </p:grpSpPr>
          <p:sp>
            <p:nvSpPr>
              <p:cNvPr id="422" name="Google Shape;422;p49"/>
              <p:cNvSpPr/>
              <p:nvPr/>
            </p:nvSpPr>
            <p:spPr>
              <a:xfrm>
                <a:off x="4517125" y="1086100"/>
                <a:ext cx="133500" cy="588600"/>
              </a:xfrm>
              <a:prstGeom prst="rect">
                <a:avLst/>
              </a:prstGeom>
              <a:solidFill>
                <a:srgbClr val="245A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3" name="Google Shape;423;p49"/>
              <p:cNvCxnSpPr/>
              <p:nvPr/>
            </p:nvCxnSpPr>
            <p:spPr>
              <a:xfrm rot="10800000">
                <a:off x="4318975" y="1084322"/>
                <a:ext cx="529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45AE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24" name="Google Shape;424;p49"/>
            <p:cNvSpPr txBox="1"/>
            <p:nvPr/>
          </p:nvSpPr>
          <p:spPr>
            <a:xfrm>
              <a:off x="5343500" y="946003"/>
              <a:ext cx="2728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Development &amp; QA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5" name="Google Shape;425;p49"/>
            <p:cNvSpPr txBox="1"/>
            <p:nvPr/>
          </p:nvSpPr>
          <p:spPr>
            <a:xfrm>
              <a:off x="5343504" y="1222267"/>
              <a:ext cx="2728200" cy="7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Development &amp; Testing of AI Agent - </a:t>
              </a:r>
              <a:r>
                <a:rPr b="1" i="1"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5 weeks</a:t>
              </a:r>
              <a:endParaRPr b="1" i="1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6" name="Google Shape;426;p49"/>
            <p:cNvSpPr txBox="1"/>
            <p:nvPr/>
          </p:nvSpPr>
          <p:spPr>
            <a:xfrm>
              <a:off x="3977400" y="973693"/>
              <a:ext cx="7584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Phase 2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7" name="Google Shape;427;p49"/>
          <p:cNvGrpSpPr/>
          <p:nvPr/>
        </p:nvGrpSpPr>
        <p:grpSpPr>
          <a:xfrm>
            <a:off x="4891825" y="3805061"/>
            <a:ext cx="4094300" cy="1023408"/>
            <a:chOff x="3977400" y="946012"/>
            <a:chExt cx="4094300" cy="1193478"/>
          </a:xfrm>
        </p:grpSpPr>
        <p:grpSp>
          <p:nvGrpSpPr>
            <p:cNvPr id="428" name="Google Shape;428;p49"/>
            <p:cNvGrpSpPr/>
            <p:nvPr/>
          </p:nvGrpSpPr>
          <p:grpSpPr>
            <a:xfrm>
              <a:off x="4732925" y="1142460"/>
              <a:ext cx="529800" cy="997030"/>
              <a:chOff x="4318975" y="1084322"/>
              <a:chExt cx="529800" cy="590378"/>
            </a:xfrm>
          </p:grpSpPr>
          <p:sp>
            <p:nvSpPr>
              <p:cNvPr id="429" name="Google Shape;429;p49"/>
              <p:cNvSpPr/>
              <p:nvPr/>
            </p:nvSpPr>
            <p:spPr>
              <a:xfrm>
                <a:off x="4517125" y="1086100"/>
                <a:ext cx="133500" cy="588600"/>
              </a:xfrm>
              <a:prstGeom prst="rect">
                <a:avLst/>
              </a:prstGeom>
              <a:solidFill>
                <a:srgbClr val="0119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30" name="Google Shape;430;p49"/>
              <p:cNvCxnSpPr/>
              <p:nvPr/>
            </p:nvCxnSpPr>
            <p:spPr>
              <a:xfrm rot="10800000">
                <a:off x="4318975" y="1084322"/>
                <a:ext cx="529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1194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31" name="Google Shape;431;p49"/>
            <p:cNvSpPr txBox="1"/>
            <p:nvPr/>
          </p:nvSpPr>
          <p:spPr>
            <a:xfrm>
              <a:off x="5343500" y="946012"/>
              <a:ext cx="2728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Go Live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2" name="Google Shape;432;p49"/>
            <p:cNvSpPr txBox="1"/>
            <p:nvPr/>
          </p:nvSpPr>
          <p:spPr>
            <a:xfrm>
              <a:off x="3977400" y="973693"/>
              <a:ext cx="7584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Phase 4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3" name="Google Shape;433;p49"/>
            <p:cNvSpPr txBox="1"/>
            <p:nvPr/>
          </p:nvSpPr>
          <p:spPr>
            <a:xfrm>
              <a:off x="5343500" y="1240631"/>
              <a:ext cx="2728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Production Deployment of AI Agent - </a:t>
              </a:r>
              <a:r>
                <a:rPr b="1" i="1"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 week </a:t>
              </a:r>
              <a:endParaRPr b="1" i="1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34" name="Google Shape;434;p49"/>
          <p:cNvSpPr txBox="1"/>
          <p:nvPr/>
        </p:nvSpPr>
        <p:spPr>
          <a:xfrm>
            <a:off x="296350" y="824875"/>
            <a:ext cx="3604200" cy="23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AutoNum type="arabicPeriod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Solution Workshops (3-4 workshops)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AutoNum type="alphaLcPeriod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Scripts / FAQs / Call Flow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AutoNum type="alphaLcPeriod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CRM Flow &amp; Integration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AutoNum type="alphaLcPeriod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Overall solution review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AutoNum type="arabicPeriod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Creation of Solution FRD &amp; Initial Project Plan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AutoNum type="arabicPeriod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Weekly Status Reports on Development Progress, Blockers, etc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AutoNum type="arabicPeriod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Testing &amp; UAT - Feedback &amp; fine-tuning of Agent 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AutoNum type="arabicPeriod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Production Deployment, performance analytics &amp; metrics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110450" y="4502875"/>
            <a:ext cx="4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* Timeline is subject to requirements being met by </a:t>
            </a:r>
            <a:r>
              <a:rPr lang="en" sz="1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Unifi</a:t>
            </a:r>
            <a:r>
              <a:rPr lang="en" sz="1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on time</a:t>
            </a:r>
            <a:endParaRPr/>
          </a:p>
        </p:txBody>
      </p:sp>
      <p:grpSp>
        <p:nvGrpSpPr>
          <p:cNvPr id="436" name="Google Shape;436;p49"/>
          <p:cNvGrpSpPr/>
          <p:nvPr/>
        </p:nvGrpSpPr>
        <p:grpSpPr>
          <a:xfrm>
            <a:off x="4891822" y="651425"/>
            <a:ext cx="4252104" cy="1347075"/>
            <a:chOff x="3977400" y="793602"/>
            <a:chExt cx="4252104" cy="1347075"/>
          </a:xfrm>
        </p:grpSpPr>
        <p:grpSp>
          <p:nvGrpSpPr>
            <p:cNvPr id="437" name="Google Shape;437;p49"/>
            <p:cNvGrpSpPr/>
            <p:nvPr/>
          </p:nvGrpSpPr>
          <p:grpSpPr>
            <a:xfrm>
              <a:off x="4732925" y="988577"/>
              <a:ext cx="529800" cy="1152099"/>
              <a:chOff x="4318975" y="993203"/>
              <a:chExt cx="529800" cy="682200"/>
            </a:xfrm>
          </p:grpSpPr>
          <p:sp>
            <p:nvSpPr>
              <p:cNvPr id="438" name="Google Shape;438;p49"/>
              <p:cNvSpPr/>
              <p:nvPr/>
            </p:nvSpPr>
            <p:spPr>
              <a:xfrm>
                <a:off x="4517129" y="993203"/>
                <a:ext cx="137100" cy="682200"/>
              </a:xfrm>
              <a:prstGeom prst="rect">
                <a:avLst/>
              </a:prstGeom>
              <a:solidFill>
                <a:srgbClr val="0119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39" name="Google Shape;439;p49"/>
              <p:cNvCxnSpPr/>
              <p:nvPr/>
            </p:nvCxnSpPr>
            <p:spPr>
              <a:xfrm rot="10800000">
                <a:off x="4318975" y="993208"/>
                <a:ext cx="529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1194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40" name="Google Shape;440;p49"/>
            <p:cNvSpPr txBox="1"/>
            <p:nvPr/>
          </p:nvSpPr>
          <p:spPr>
            <a:xfrm>
              <a:off x="5343504" y="793602"/>
              <a:ext cx="28860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Solutioning &amp; Requirement Gathering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1" name="Google Shape;441;p49"/>
            <p:cNvSpPr txBox="1"/>
            <p:nvPr/>
          </p:nvSpPr>
          <p:spPr>
            <a:xfrm>
              <a:off x="3977400" y="821293"/>
              <a:ext cx="7584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Phase 1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2" name="Google Shape;442;p49"/>
            <p:cNvSpPr txBox="1"/>
            <p:nvPr/>
          </p:nvSpPr>
          <p:spPr>
            <a:xfrm>
              <a:off x="5343504" y="1069855"/>
              <a:ext cx="2728200" cy="7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Validation of use cases and business requirements. Solution Architecture for Integrations, API field mapping (CRM, Dialer), and initial Project Plan - </a:t>
              </a:r>
              <a:r>
                <a:rPr b="1" i="1"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1-2 Weeks</a:t>
              </a:r>
              <a:endParaRPr b="1" i="1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/>
          <p:nvPr/>
        </p:nvSpPr>
        <p:spPr>
          <a:xfrm>
            <a:off x="6906950" y="1732800"/>
            <a:ext cx="1967700" cy="19677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0"/>
          <p:cNvSpPr txBox="1"/>
          <p:nvPr/>
        </p:nvSpPr>
        <p:spPr>
          <a:xfrm>
            <a:off x="287775" y="198750"/>
            <a:ext cx="659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Use Case Deepdive</a:t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49" name="Google Shape;449;p50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50" y="3854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0"/>
          <p:cNvSpPr/>
          <p:nvPr/>
        </p:nvSpPr>
        <p:spPr>
          <a:xfrm rot="5400000">
            <a:off x="253370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0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0"/>
          <p:cNvSpPr/>
          <p:nvPr/>
        </p:nvSpPr>
        <p:spPr>
          <a:xfrm rot="10800000">
            <a:off x="9200800" y="-34087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0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0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0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0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0"/>
          <p:cNvSpPr txBox="1"/>
          <p:nvPr/>
        </p:nvSpPr>
        <p:spPr>
          <a:xfrm>
            <a:off x="1272450" y="4505700"/>
            <a:ext cx="659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</a:t>
            </a:r>
            <a:endParaRPr sz="8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graphicFrame>
        <p:nvGraphicFramePr>
          <p:cNvPr id="459" name="Google Shape;459;p50"/>
          <p:cNvGraphicFramePr/>
          <p:nvPr/>
        </p:nvGraphicFramePr>
        <p:xfrm>
          <a:off x="239550" y="78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{32C7E273-2A0B-44F7-8CC1-4FDAA0629F30}</a:tableStyleId>
              </a:tblPr>
              <a:tblGrid>
                <a:gridCol w="2080150"/>
                <a:gridCol w="4430000"/>
                <a:gridCol w="2124950"/>
              </a:tblGrid>
              <a:tr h="33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Use Case</a:t>
                      </a:r>
                      <a:endParaRPr b="1" sz="11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Goal</a:t>
                      </a:r>
                      <a:endParaRPr b="1" sz="11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Action</a:t>
                      </a:r>
                      <a:endParaRPr b="1" sz="11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64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Candidate Screening / Inquiries</a:t>
                      </a:r>
                      <a:endParaRPr b="1"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Answer FAQs about job roles, application status, or company policies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Inbound call handling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Qualification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Disposition to CRM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Interview Scheduling</a:t>
                      </a:r>
                      <a:endParaRPr b="1"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Coordinate interview times by syncing with calendars and confirming with candidates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Outbound call Handling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Calendar scheduler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Dispositions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Follow-ups</a:t>
                      </a:r>
                      <a:endParaRPr b="1"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Automated reminders on interviews, incomplete documentation, onboarding assistance, post offer engagement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Outbound call Handling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Fetch data from CRM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Effortless Job Applications &amp; FAQs</a:t>
                      </a:r>
                      <a:endParaRPr b="1"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</a:t>
                      </a: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roviding job recommendations based on their interests and qualifications, facilitating application submission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FAQs, Knowledge base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Qualification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Document Parsing and Information Retrieval</a:t>
                      </a:r>
                      <a:endParaRPr b="1"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Extracts key details from uploaded resumes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Real-Time Query Handling</a:t>
                      </a:r>
                      <a:endParaRPr b="1"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</a:t>
                      </a:r>
                      <a:r>
                        <a:rPr lang="en" sz="11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nstantly responds to FAQs 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1"/>
          <p:cNvSpPr txBox="1"/>
          <p:nvPr/>
        </p:nvSpPr>
        <p:spPr>
          <a:xfrm>
            <a:off x="287775" y="198750"/>
            <a:ext cx="5040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Immediate Requirements </a:t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65" name="Google Shape;465;p51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1"/>
          <p:cNvSpPr txBox="1"/>
          <p:nvPr/>
        </p:nvSpPr>
        <p:spPr>
          <a:xfrm>
            <a:off x="287775" y="1194338"/>
            <a:ext cx="58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467" name="Google Shape;46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50" y="3854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1"/>
          <p:cNvSpPr/>
          <p:nvPr/>
        </p:nvSpPr>
        <p:spPr>
          <a:xfrm rot="5400000">
            <a:off x="253370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1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1"/>
          <p:cNvSpPr/>
          <p:nvPr/>
        </p:nvSpPr>
        <p:spPr>
          <a:xfrm rot="10800000">
            <a:off x="9200800" y="-343765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1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1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1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1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1"/>
          <p:cNvSpPr/>
          <p:nvPr/>
        </p:nvSpPr>
        <p:spPr>
          <a:xfrm>
            <a:off x="5729050" y="47259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76" name="Google Shape;476;p51"/>
          <p:cNvGraphicFramePr/>
          <p:nvPr/>
        </p:nvGraphicFramePr>
        <p:xfrm>
          <a:off x="376500" y="12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{32C7E273-2A0B-44F7-8CC1-4FDAA0629F30}</a:tableStyleId>
              </a:tblPr>
              <a:tblGrid>
                <a:gridCol w="2956400"/>
                <a:gridCol w="1248975"/>
                <a:gridCol w="38844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Action Item</a:t>
                      </a:r>
                      <a:endParaRPr b="1" sz="12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Owner</a:t>
                      </a:r>
                      <a:endParaRPr b="1" sz="12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Task Description</a:t>
                      </a:r>
                      <a:endParaRPr b="1" sz="12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CRM API - Avature</a:t>
                      </a:r>
                      <a:endParaRPr b="1"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Unifi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Please provide documentation for fetching </a:t>
                      </a: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information</a:t>
                      </a: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and for adding dispositions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Dialer API Access (TBD)</a:t>
                      </a:r>
                      <a:endParaRPr b="1"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Unifi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Provide access to Dialer account with read/write permissions. SIP-trunking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Sample Scripts</a:t>
                      </a:r>
                      <a:r>
                        <a:rPr b="1"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&amp; Call recordings</a:t>
                      </a:r>
                      <a:endParaRPr b="1"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Unifi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Share sample call scripts and recordings tailored to </a:t>
                      </a: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Unifi</a:t>
                      </a: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use cases for agent training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Call Flow Logic</a:t>
                      </a:r>
                      <a:endParaRPr b="1"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Unifi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+ Nurix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Share defined call flow logic to begin integration and development.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7" name="Google Shape;477;p51"/>
          <p:cNvSpPr txBox="1"/>
          <p:nvPr/>
        </p:nvSpPr>
        <p:spPr>
          <a:xfrm>
            <a:off x="287775" y="814350"/>
            <a:ext cx="504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/>
          <p:nvPr/>
        </p:nvSpPr>
        <p:spPr>
          <a:xfrm>
            <a:off x="4053950" y="-1120175"/>
            <a:ext cx="7383900" cy="7383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2"/>
          <p:cNvSpPr/>
          <p:nvPr/>
        </p:nvSpPr>
        <p:spPr>
          <a:xfrm>
            <a:off x="4946325" y="-227800"/>
            <a:ext cx="5889600" cy="58896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2"/>
          <p:cNvSpPr/>
          <p:nvPr/>
        </p:nvSpPr>
        <p:spPr>
          <a:xfrm>
            <a:off x="5873425" y="699275"/>
            <a:ext cx="4035300" cy="40353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2"/>
          <p:cNvSpPr/>
          <p:nvPr/>
        </p:nvSpPr>
        <p:spPr>
          <a:xfrm>
            <a:off x="6906950" y="1732800"/>
            <a:ext cx="1967700" cy="19677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2"/>
          <p:cNvSpPr txBox="1"/>
          <p:nvPr/>
        </p:nvSpPr>
        <p:spPr>
          <a:xfrm>
            <a:off x="287775" y="198750"/>
            <a:ext cx="454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Operational Setup</a:t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87" name="Google Shape;487;p52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50" y="3854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2"/>
          <p:cNvSpPr/>
          <p:nvPr/>
        </p:nvSpPr>
        <p:spPr>
          <a:xfrm rot="5400000">
            <a:off x="253370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2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2"/>
          <p:cNvSpPr/>
          <p:nvPr/>
        </p:nvSpPr>
        <p:spPr>
          <a:xfrm rot="10800000">
            <a:off x="9200800" y="-343765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2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2"/>
          <p:cNvSpPr/>
          <p:nvPr/>
        </p:nvSpPr>
        <p:spPr>
          <a:xfrm>
            <a:off x="3981838" y="2735719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2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2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2"/>
          <p:cNvSpPr/>
          <p:nvPr/>
        </p:nvSpPr>
        <p:spPr>
          <a:xfrm>
            <a:off x="4911025" y="25740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2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2"/>
          <p:cNvSpPr/>
          <p:nvPr/>
        </p:nvSpPr>
        <p:spPr>
          <a:xfrm>
            <a:off x="5729050" y="47259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2"/>
          <p:cNvSpPr/>
          <p:nvPr/>
        </p:nvSpPr>
        <p:spPr>
          <a:xfrm>
            <a:off x="6886775" y="25109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00" name="Google Shape;500;p52"/>
          <p:cNvGraphicFramePr/>
          <p:nvPr/>
        </p:nvGraphicFramePr>
        <p:xfrm>
          <a:off x="905413" y="129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{32C7E273-2A0B-44F7-8CC1-4FDAA0629F30}</a:tableStyleId>
              </a:tblPr>
              <a:tblGrid>
                <a:gridCol w="1663500"/>
                <a:gridCol w="1690225"/>
                <a:gridCol w="4088100"/>
              </a:tblGrid>
              <a:tr h="46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Category</a:t>
                      </a:r>
                      <a:endParaRPr b="1" sz="12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Tool Name</a:t>
                      </a:r>
                      <a:endParaRPr b="1" sz="12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Purpose</a:t>
                      </a:r>
                      <a:endParaRPr b="1" sz="1200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46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Communication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Teams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Team chat, updates, and integrations with other tools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7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Google Meet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Virtual meetings and screen sharing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Documentation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Google Workspace</a:t>
                      </a:r>
                      <a:endParaRPr sz="1200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Docs, Sheets, and Slides for team sharing</a:t>
                      </a:r>
                      <a:endParaRPr sz="1200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UAT Tracking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Google Workspace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Feedback for fine-tuning Agent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File Sharing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Google Drive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Cloud storage and file sharing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3"/>
          <p:cNvSpPr/>
          <p:nvPr/>
        </p:nvSpPr>
        <p:spPr>
          <a:xfrm>
            <a:off x="4053950" y="-1120175"/>
            <a:ext cx="7383900" cy="7383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3"/>
          <p:cNvSpPr/>
          <p:nvPr/>
        </p:nvSpPr>
        <p:spPr>
          <a:xfrm>
            <a:off x="4946325" y="-227800"/>
            <a:ext cx="5889600" cy="58896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3"/>
          <p:cNvSpPr/>
          <p:nvPr/>
        </p:nvSpPr>
        <p:spPr>
          <a:xfrm>
            <a:off x="5873425" y="699275"/>
            <a:ext cx="4035300" cy="40353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3"/>
          <p:cNvSpPr/>
          <p:nvPr/>
        </p:nvSpPr>
        <p:spPr>
          <a:xfrm>
            <a:off x="6906950" y="1732800"/>
            <a:ext cx="1967700" cy="19677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3"/>
          <p:cNvSpPr txBox="1"/>
          <p:nvPr/>
        </p:nvSpPr>
        <p:spPr>
          <a:xfrm>
            <a:off x="287775" y="198750"/>
            <a:ext cx="454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Next Steps</a:t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10" name="Google Shape;510;p53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1" name="Google Shape;51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50" y="3854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3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3"/>
          <p:cNvSpPr/>
          <p:nvPr/>
        </p:nvSpPr>
        <p:spPr>
          <a:xfrm rot="10800000">
            <a:off x="9200800" y="-343765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3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3"/>
          <p:cNvSpPr/>
          <p:nvPr/>
        </p:nvSpPr>
        <p:spPr>
          <a:xfrm>
            <a:off x="3981838" y="2735719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3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3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3"/>
          <p:cNvSpPr/>
          <p:nvPr/>
        </p:nvSpPr>
        <p:spPr>
          <a:xfrm>
            <a:off x="4911025" y="25740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3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3"/>
          <p:cNvSpPr/>
          <p:nvPr/>
        </p:nvSpPr>
        <p:spPr>
          <a:xfrm>
            <a:off x="5729050" y="47259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3"/>
          <p:cNvSpPr/>
          <p:nvPr/>
        </p:nvSpPr>
        <p:spPr>
          <a:xfrm>
            <a:off x="6886775" y="25109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3"/>
          <p:cNvSpPr txBox="1"/>
          <p:nvPr/>
        </p:nvSpPr>
        <p:spPr>
          <a:xfrm>
            <a:off x="287775" y="1163550"/>
            <a:ext cx="79128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Shared Slack channel for on-going </a:t>
            </a: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communication [Nurix]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Schedule initial Solutioning Session [Nurix]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anrope"/>
              <a:buChar char="●"/>
            </a:pPr>
            <a:r>
              <a:rPr lang="en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Weekly Project Update Call [Nurix]</a:t>
            </a:r>
            <a:endParaRPr>
              <a:solidFill>
                <a:srgbClr val="22222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4"/>
          <p:cNvSpPr/>
          <p:nvPr/>
        </p:nvSpPr>
        <p:spPr>
          <a:xfrm>
            <a:off x="4053950" y="-1120175"/>
            <a:ext cx="7383900" cy="7383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4"/>
          <p:cNvSpPr/>
          <p:nvPr/>
        </p:nvSpPr>
        <p:spPr>
          <a:xfrm>
            <a:off x="4946325" y="-227800"/>
            <a:ext cx="5889600" cy="58896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4"/>
          <p:cNvSpPr/>
          <p:nvPr/>
        </p:nvSpPr>
        <p:spPr>
          <a:xfrm>
            <a:off x="5873425" y="699275"/>
            <a:ext cx="4035300" cy="40353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4"/>
          <p:cNvSpPr/>
          <p:nvPr/>
        </p:nvSpPr>
        <p:spPr>
          <a:xfrm>
            <a:off x="6906950" y="1732800"/>
            <a:ext cx="1967700" cy="19677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4"/>
          <p:cNvSpPr txBox="1"/>
          <p:nvPr/>
        </p:nvSpPr>
        <p:spPr>
          <a:xfrm>
            <a:off x="1655250" y="2038700"/>
            <a:ext cx="5481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rgbClr val="2258E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 &amp; Answers</a:t>
            </a:r>
            <a:endParaRPr sz="3000">
              <a:solidFill>
                <a:srgbClr val="2258E2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32" name="Google Shape;532;p54"/>
          <p:cNvSpPr/>
          <p:nvPr/>
        </p:nvSpPr>
        <p:spPr>
          <a:xfrm rot="5400000">
            <a:off x="26636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4"/>
          <p:cNvSpPr txBox="1"/>
          <p:nvPr/>
        </p:nvSpPr>
        <p:spPr>
          <a:xfrm>
            <a:off x="287775" y="1194338"/>
            <a:ext cx="58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534" name="Google Shape;53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50" y="385497"/>
            <a:ext cx="875650" cy="18478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4"/>
          <p:cNvSpPr/>
          <p:nvPr/>
        </p:nvSpPr>
        <p:spPr>
          <a:xfrm rot="5400000">
            <a:off x="253370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4"/>
          <p:cNvSpPr/>
          <p:nvPr/>
        </p:nvSpPr>
        <p:spPr>
          <a:xfrm rot="5400000">
            <a:off x="2805175" y="17229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4"/>
          <p:cNvSpPr/>
          <p:nvPr/>
        </p:nvSpPr>
        <p:spPr>
          <a:xfrm rot="10800000">
            <a:off x="9200800" y="-343765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4"/>
          <p:cNvSpPr/>
          <p:nvPr/>
        </p:nvSpPr>
        <p:spPr>
          <a:xfrm>
            <a:off x="8306388" y="17867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4"/>
          <p:cNvSpPr/>
          <p:nvPr/>
        </p:nvSpPr>
        <p:spPr>
          <a:xfrm>
            <a:off x="3981838" y="2735719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4"/>
          <p:cNvSpPr/>
          <p:nvPr/>
        </p:nvSpPr>
        <p:spPr>
          <a:xfrm>
            <a:off x="6354488" y="401579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4"/>
          <p:cNvSpPr/>
          <p:nvPr/>
        </p:nvSpPr>
        <p:spPr>
          <a:xfrm>
            <a:off x="5521125" y="786044"/>
            <a:ext cx="159900" cy="15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4"/>
          <p:cNvSpPr/>
          <p:nvPr/>
        </p:nvSpPr>
        <p:spPr>
          <a:xfrm>
            <a:off x="4911025" y="25740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4"/>
          <p:cNvSpPr/>
          <p:nvPr/>
        </p:nvSpPr>
        <p:spPr>
          <a:xfrm>
            <a:off x="4833925" y="2064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4"/>
          <p:cNvSpPr/>
          <p:nvPr/>
        </p:nvSpPr>
        <p:spPr>
          <a:xfrm>
            <a:off x="5729050" y="4725925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4"/>
          <p:cNvSpPr/>
          <p:nvPr/>
        </p:nvSpPr>
        <p:spPr>
          <a:xfrm>
            <a:off x="6886775" y="2510950"/>
            <a:ext cx="77100" cy="771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AE2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5"/>
          <p:cNvSpPr/>
          <p:nvPr/>
        </p:nvSpPr>
        <p:spPr>
          <a:xfrm>
            <a:off x="1158000" y="-744475"/>
            <a:ext cx="6828000" cy="6828000"/>
          </a:xfrm>
          <a:prstGeom prst="ellipse">
            <a:avLst/>
          </a:prstGeom>
          <a:solidFill>
            <a:srgbClr val="EEEEEE">
              <a:alpha val="4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5"/>
          <p:cNvSpPr/>
          <p:nvPr/>
        </p:nvSpPr>
        <p:spPr>
          <a:xfrm>
            <a:off x="1750736" y="-13280"/>
            <a:ext cx="5376900" cy="5376900"/>
          </a:xfrm>
          <a:prstGeom prst="ellipse">
            <a:avLst/>
          </a:prstGeom>
          <a:solidFill>
            <a:srgbClr val="EEEEEE">
              <a:alpha val="4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5"/>
          <p:cNvSpPr/>
          <p:nvPr/>
        </p:nvSpPr>
        <p:spPr>
          <a:xfrm>
            <a:off x="2801691" y="960641"/>
            <a:ext cx="3436800" cy="3436800"/>
          </a:xfrm>
          <a:prstGeom prst="ellipse">
            <a:avLst/>
          </a:prstGeom>
          <a:solidFill>
            <a:srgbClr val="EEEEEE">
              <a:alpha val="10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5"/>
          <p:cNvSpPr/>
          <p:nvPr/>
        </p:nvSpPr>
        <p:spPr>
          <a:xfrm rot="5400000">
            <a:off x="2848350" y="-8286300"/>
            <a:ext cx="4865700" cy="117069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4" name="Google Shape;55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48" y="477975"/>
            <a:ext cx="875650" cy="1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5"/>
          <p:cNvSpPr txBox="1"/>
          <p:nvPr/>
        </p:nvSpPr>
        <p:spPr>
          <a:xfrm>
            <a:off x="1158000" y="2150300"/>
            <a:ext cx="68280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6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 sz="3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258E2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Nuri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45AE2"/>
      </a:accent1>
      <a:accent2>
        <a:srgbClr val="01194C"/>
      </a:accent2>
      <a:accent3>
        <a:srgbClr val="D6F549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Theme">
  <a:themeElements>
    <a:clrScheme name="Nuri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45AE2"/>
      </a:accent1>
      <a:accent2>
        <a:srgbClr val="01194C"/>
      </a:accent2>
      <a:accent3>
        <a:srgbClr val="D6F549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